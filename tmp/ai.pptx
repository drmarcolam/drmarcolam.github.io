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Before your first assessment, I want to be clear about how you can use AI in this course. In short: AI use is permitted on open-source assessments, with one important condition. This short deck walks through what that looks like, what is risky, what is not permitted, and a simple test you can use before you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rule: you may use AI tools on open-source assessments in MBA 623. The condition is this: AI may assist your thinking, but it may not replace your understanding. You remain responsible for every answer, calculation, explanation and conclusion you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“I don’t understand why an increase in accounts receivable reduces operating cash flow. Explain it to me.” You are using AI as a tutor. Check: “I calculated a contribution margin of $42 per unit. Check my calculation and explain any error you find.” You have done the work and are using AI to help verify it. Diagnose: “My answer doesn’t match the expected result. Here is my approach. Help me identify where my reasoning may have gone wrong.” You remain responsible for understanding the correction. Explore: “What factors should a manager consider when deciding whether to accept a special order?” You are using AI to identify issues you should consider. Challenge your reasoning: “Here is my conclusion. What assumptions am I making, and what facts might cause a manager to reach a different conclusion?” An especially effective use: it helps you test your own reasoning. Notice the pattern: in every case you do the thinking first, and AI helps you learn, check or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risky patterns. First, asking AI to do the entire assessment. AI use is permitted, but this gives you little opportunity to find out whether you understand, and if you cannot explain the work, you have not demonstrated the learning being assessed. Second, copying without checking. AI can confidently produce incorrect calculations. Third, letting AI make your judgment. A better approach is to ask AI to identify relevant factors or challenge your conclusion. The professional judgment should be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open-source policy does not permit you to collaborate with another student on an individual assessment, give another student your questions or answers, use another student's completed work, have another person complete your assessment, or post assessment materials to public websites, repositories or study-sharing services. Open source does not mean open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simple check before you submit. Imagine I select one part of your assessment and ask: walk me through what you did here and explain why. Could you answer? Could you reproduce an important calculation? Could you explain what the result means? Could you explain what would happen if one of the assumptions changed? If so, you are probably using AI the way it is intended in this course. If not, use the remaining time to turn the answer you found into something you actually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goal of these assessments is not to find out whether you can find an answer. AI has made finding answers easier than ever. The goal is to determine whether you can evaluate information, apply accounting concepts, exercise professional judgment, and explain your conclusions. Those are the skills that matter in this course, and in management. Resources are open. Collaboration is restricted. Understanding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574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4D5D68"/>
                </a:solidFill>
                <a:latin typeface="Calibri" pitchFamily="34" charset="0"/>
                <a:ea typeface="Calibri" pitchFamily="34" charset="-122"/>
                <a:cs typeface="Calibri" pitchFamily="34" charset="-120"/>
              </a:rPr>
              <a:t>MBA 623  |  Using AI on assessments</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rgbClr val="14574B"/>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4574B"/>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CFE5DD"/>
                </a:solidFill>
                <a:latin typeface="Calibri" pitchFamily="34" charset="0"/>
                <a:ea typeface="Calibri" pitchFamily="34" charset="-122"/>
                <a:cs typeface="Calibri" pitchFamily="34" charset="-120"/>
              </a:rPr>
              <a:t>MBA 623  |  Using AI on assessments</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5DD"/>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502920"/>
            <a:ext cx="5486400" cy="365760"/>
          </a:xfrm>
          <a:prstGeom prst="rect">
            <a:avLst/>
          </a:prstGeom>
          <a:noFill/>
          <a:ln/>
        </p:spPr>
        <p:txBody>
          <a:bodyPr wrap="square" lIns="0" tIns="0" rIns="0" bIns="0" rtlCol="0" anchor="ctr"/>
          <a:lstStyle/>
          <a:p>
            <a:pPr indent="0" marL="0">
              <a:buNone/>
            </a:pPr>
            <a:r>
              <a:rPr lang="en-US" sz="1600" dirty="0">
                <a:solidFill>
                  <a:srgbClr val="CFE5DD"/>
                </a:solidFill>
                <a:latin typeface="Calibri" pitchFamily="34" charset="0"/>
                <a:ea typeface="Calibri" pitchFamily="34" charset="-122"/>
                <a:cs typeface="Calibri" pitchFamily="34" charset="-120"/>
              </a:rPr>
              <a:t>MBA 623  |  Assessment policy</a:t>
            </a:r>
            <a:endParaRPr lang="en-US" sz="1600" dirty="0"/>
          </a:p>
        </p:txBody>
      </p:sp>
      <p:sp>
        <p:nvSpPr>
          <p:cNvPr id="4" name="Text 1"/>
          <p:cNvSpPr txBox="1"/>
          <p:nvPr/>
        </p:nvSpPr>
        <p:spPr>
          <a:xfrm>
            <a:off x="548640" y="1143000"/>
            <a:ext cx="576072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Using AI on MBA 623 Assessments</a:t>
            </a:r>
            <a:endParaRPr lang="en-US" sz="3800" dirty="0"/>
          </a:p>
        </p:txBody>
      </p:sp>
      <p:sp>
        <p:nvSpPr>
          <p:cNvPr id="5" name="Text 2"/>
          <p:cNvSpPr txBox="1"/>
          <p:nvPr/>
        </p:nvSpPr>
        <p:spPr>
          <a:xfrm>
            <a:off x="548640" y="2880360"/>
            <a:ext cx="5760720" cy="1005840"/>
          </a:xfrm>
          <a:prstGeom prst="rect">
            <a:avLst/>
          </a:prstGeom>
          <a:noFill/>
          <a:ln/>
        </p:spPr>
        <p:txBody>
          <a:bodyPr wrap="square" lIns="0" tIns="0" rIns="0" bIns="0" rtlCol="0" anchor="t"/>
          <a:lstStyle/>
          <a:p>
            <a:pPr indent="0" marL="0">
              <a:buNone/>
            </a:pPr>
            <a:r>
              <a:rPr lang="en-US" sz="1800" i="1" dirty="0">
                <a:solidFill>
                  <a:srgbClr val="E0EEE8"/>
                </a:solidFill>
                <a:latin typeface="Cambria" pitchFamily="34" charset="0"/>
                <a:ea typeface="Cambria" pitchFamily="34" charset="-122"/>
                <a:cs typeface="Cambria" pitchFamily="34" charset="-120"/>
              </a:rPr>
              <a:t>AI may assist your thinking. It may not replace your understanding.</a:t>
            </a:r>
            <a:endParaRPr lang="en-US" sz="1800" dirty="0"/>
          </a:p>
        </p:txBody>
      </p:sp>
      <p:sp>
        <p:nvSpPr>
          <p:cNvPr id="6" name="Text 3"/>
          <p:cNvSpPr txBox="1"/>
          <p:nvPr/>
        </p:nvSpPr>
        <p:spPr>
          <a:xfrm>
            <a:off x="548640" y="4480560"/>
            <a:ext cx="7680960" cy="320040"/>
          </a:xfrm>
          <a:prstGeom prst="rect">
            <a:avLst/>
          </a:prstGeom>
          <a:noFill/>
          <a:ln/>
        </p:spPr>
        <p:txBody>
          <a:bodyPr wrap="square" lIns="0" tIns="0" rIns="0" bIns="0" rtlCol="0" anchor="ctr"/>
          <a:lstStyle/>
          <a:p>
            <a:pPr indent="0" marL="0">
              <a:buNone/>
            </a:pPr>
            <a:r>
              <a:rPr lang="en-US" sz="1200" dirty="0">
                <a:solidFill>
                  <a:srgbClr val="CFE5DD"/>
                </a:solidFill>
                <a:latin typeface="Calibri" pitchFamily="34" charset="0"/>
                <a:ea typeface="Calibri" pitchFamily="34" charset="-122"/>
                <a:cs typeface="Calibri" pitchFamily="34" charset="-120"/>
              </a:rPr>
              <a:t>Accounting: Understanding Performance &amp; Informing Decisions</a:t>
            </a:r>
            <a:endParaRPr lang="en-US" sz="1200" dirty="0"/>
          </a:p>
        </p:txBody>
      </p:sp>
      <p:sp>
        <p:nvSpPr>
          <p:cNvPr id="7" name="AI badge"/>
          <p:cNvSpPr txBox="1"/>
          <p:nvPr/>
        </p:nvSpPr>
        <p:spPr>
          <a:xfrm>
            <a:off x="6675120" y="1188720"/>
            <a:ext cx="1920240" cy="1920240"/>
          </a:xfrm>
          <a:prstGeom prst="ellipse">
            <a:avLst/>
          </a:prstGeom>
          <a:solidFill>
            <a:srgbClr val="1B6A5C"/>
          </a:solidFill>
          <a:ln w="25400">
            <a:solidFill>
              <a:srgbClr val="CFE5DD"/>
            </a:solidFill>
          </a:ln>
        </p:spPr>
        <p:txBody>
          <a:bodyPr wrap="square" lIns="0" tIns="0" rIns="0" bIns="0"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AI</a:t>
            </a:r>
            <a:endParaRPr lang="en-US" sz="6600" dirty="0"/>
          </a:p>
        </p:txBody>
      </p:sp>
      <p:sp>
        <p:nvSpPr>
          <p:cNvPr id="8" name="Text 5"/>
          <p:cNvSpPr txBox="1"/>
          <p:nvPr/>
        </p:nvSpPr>
        <p:spPr>
          <a:xfrm>
            <a:off x="6400800" y="3291840"/>
            <a:ext cx="2468880" cy="365760"/>
          </a:xfrm>
          <a:prstGeom prst="rect">
            <a:avLst/>
          </a:prstGeom>
          <a:noFill/>
          <a:ln/>
        </p:spPr>
        <p:txBody>
          <a:bodyPr wrap="square" lIns="0" tIns="0" rIns="0" bIns="0" rtlCol="0" anchor="ctr"/>
          <a:lstStyle/>
          <a:p>
            <a:pPr algn="ctr" indent="0" marL="0">
              <a:buNone/>
            </a:pPr>
            <a:r>
              <a:rPr lang="en-US" sz="1600" dirty="0">
                <a:solidFill>
                  <a:srgbClr val="CFE5DD"/>
                </a:solidFill>
                <a:latin typeface="Calibri" pitchFamily="34" charset="0"/>
                <a:ea typeface="Calibri" pitchFamily="34" charset="-122"/>
                <a:cs typeface="Calibri" pitchFamily="34" charset="-120"/>
              </a:rPr>
              <a:t>Student guide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574B"/>
                </a:solidFill>
                <a:latin typeface="Cambria" pitchFamily="34" charset="0"/>
                <a:ea typeface="Cambria" pitchFamily="34" charset="-122"/>
                <a:cs typeface="Cambria" pitchFamily="34" charset="-120"/>
              </a:rPr>
              <a:t>The basic rule</a:t>
            </a:r>
            <a:endParaRPr lang="en-US" sz="3200" dirty="0"/>
          </a:p>
        </p:txBody>
      </p:sp>
      <p:sp>
        <p:nvSpPr>
          <p:cNvPr id="4" name="Rule card"/>
          <p:cNvSpPr/>
          <p:nvPr/>
        </p:nvSpPr>
        <p:spPr>
          <a:xfrm>
            <a:off x="457200" y="1188720"/>
            <a:ext cx="5029200" cy="3337560"/>
          </a:xfrm>
          <a:prstGeom prst="roundRect">
            <a:avLst>
              <a:gd name="adj" fmla="val 2192"/>
            </a:avLst>
          </a:prstGeom>
          <a:solidFill>
            <a:srgbClr val="FFFFFF"/>
          </a:solidFill>
          <a:ln w="9525">
            <a:solidFill>
              <a:srgbClr val="C7D2CB"/>
            </a:solidFill>
            <a:prstDash val="solid"/>
          </a:ln>
        </p:spPr>
      </p:sp>
      <p:sp>
        <p:nvSpPr>
          <p:cNvPr id="5" name="Text 2"/>
          <p:cNvSpPr txBox="1"/>
          <p:nvPr/>
        </p:nvSpPr>
        <p:spPr>
          <a:xfrm>
            <a:off x="685800" y="1325880"/>
            <a:ext cx="2743200" cy="274320"/>
          </a:xfrm>
          <a:prstGeom prst="rect">
            <a:avLst/>
          </a:prstGeom>
          <a:noFill/>
          <a:ln/>
        </p:spPr>
        <p:txBody>
          <a:bodyPr wrap="square" lIns="0" tIns="0" rIns="0" bIns="0" rtlCol="0" anchor="ctr"/>
          <a:lstStyle/>
          <a:p>
            <a:pPr indent="0" marL="0">
              <a:buNone/>
            </a:pPr>
            <a:r>
              <a:rPr lang="en-US" sz="1200" b="1" spc="300" kern="0" dirty="0">
                <a:solidFill>
                  <a:srgbClr val="14574B"/>
                </a:solidFill>
                <a:latin typeface="Calibri" pitchFamily="34" charset="0"/>
                <a:ea typeface="Calibri" pitchFamily="34" charset="-122"/>
                <a:cs typeface="Calibri" pitchFamily="34" charset="-120"/>
              </a:rPr>
              <a:t>THE RULE</a:t>
            </a:r>
            <a:endParaRPr lang="en-US" sz="1200" dirty="0"/>
          </a:p>
        </p:txBody>
      </p:sp>
      <p:sp>
        <p:nvSpPr>
          <p:cNvPr id="6" name="Text 3"/>
          <p:cNvSpPr txBox="1"/>
          <p:nvPr/>
        </p:nvSpPr>
        <p:spPr>
          <a:xfrm>
            <a:off x="685800" y="1737360"/>
            <a:ext cx="4572000" cy="1097280"/>
          </a:xfrm>
          <a:prstGeom prst="rect">
            <a:avLst/>
          </a:prstGeom>
          <a:noFill/>
          <a:ln/>
        </p:spPr>
        <p:txBody>
          <a:bodyPr wrap="square" lIns="0" tIns="0" rIns="0" bIns="0" rtlCol="0" anchor="t"/>
          <a:lstStyle/>
          <a:p>
            <a:pPr indent="0" marL="0">
              <a:buNone/>
            </a:pPr>
            <a:r>
              <a:rPr lang="en-US" sz="2200" dirty="0">
                <a:solidFill>
                  <a:srgbClr val="16222B"/>
                </a:solidFill>
                <a:latin typeface="Calibri" pitchFamily="34" charset="0"/>
                <a:ea typeface="Calibri" pitchFamily="34" charset="-122"/>
                <a:cs typeface="Calibri" pitchFamily="34" charset="-120"/>
              </a:rPr>
              <a:t>You may use AI tools on open-source assessments in MBA 623.</a:t>
            </a:r>
            <a:endParaRPr lang="en-US" sz="2200" dirty="0"/>
          </a:p>
        </p:txBody>
      </p:sp>
      <p:sp>
        <p:nvSpPr>
          <p:cNvPr id="7" name="Text 4"/>
          <p:cNvSpPr txBox="1"/>
          <p:nvPr/>
        </p:nvSpPr>
        <p:spPr>
          <a:xfrm>
            <a:off x="685800" y="3017520"/>
            <a:ext cx="4572000" cy="457200"/>
          </a:xfrm>
          <a:prstGeom prst="rect">
            <a:avLst/>
          </a:prstGeom>
          <a:noFill/>
          <a:ln/>
        </p:spPr>
        <p:txBody>
          <a:bodyPr wrap="square" lIns="0" tIns="0" rIns="0" bIns="0" rtlCol="0" anchor="t"/>
          <a:lstStyle/>
          <a:p>
            <a:pPr indent="0" marL="0">
              <a:buNone/>
            </a:pPr>
            <a:r>
              <a:rPr lang="en-US" sz="1800" i="1" dirty="0">
                <a:solidFill>
                  <a:srgbClr val="4D5D68"/>
                </a:solidFill>
                <a:latin typeface="Cambria" pitchFamily="34" charset="0"/>
                <a:ea typeface="Cambria" pitchFamily="34" charset="-122"/>
                <a:cs typeface="Cambria" pitchFamily="34" charset="-120"/>
              </a:rPr>
              <a:t>But there is an important condition.</a:t>
            </a:r>
            <a:endParaRPr lang="en-US" sz="1800" dirty="0"/>
          </a:p>
        </p:txBody>
      </p:sp>
      <p:sp>
        <p:nvSpPr>
          <p:cNvPr id="8" name="Condition card"/>
          <p:cNvSpPr/>
          <p:nvPr/>
        </p:nvSpPr>
        <p:spPr>
          <a:xfrm>
            <a:off x="5760720" y="1188720"/>
            <a:ext cx="2926080" cy="3337560"/>
          </a:xfrm>
          <a:prstGeom prst="roundRect">
            <a:avLst>
              <a:gd name="adj" fmla="val 2500"/>
            </a:avLst>
          </a:prstGeom>
          <a:solidFill>
            <a:srgbClr val="E0EEE8"/>
          </a:solidFill>
          <a:ln w="9525">
            <a:solidFill>
              <a:srgbClr val="C7D2CB"/>
            </a:solidFill>
            <a:prstDash val="solid"/>
          </a:ln>
        </p:spPr>
      </p:sp>
      <p:sp>
        <p:nvSpPr>
          <p:cNvPr id="9" name="Text 6"/>
          <p:cNvSpPr txBox="1"/>
          <p:nvPr/>
        </p:nvSpPr>
        <p:spPr>
          <a:xfrm>
            <a:off x="5943600" y="1325880"/>
            <a:ext cx="2560320" cy="274320"/>
          </a:xfrm>
          <a:prstGeom prst="rect">
            <a:avLst/>
          </a:prstGeom>
          <a:noFill/>
          <a:ln/>
        </p:spPr>
        <p:txBody>
          <a:bodyPr wrap="square" lIns="0" tIns="0" rIns="0" bIns="0" rtlCol="0" anchor="ctr"/>
          <a:lstStyle/>
          <a:p>
            <a:pPr indent="0" marL="0">
              <a:buNone/>
            </a:pPr>
            <a:r>
              <a:rPr lang="en-US" sz="1200" b="1" dirty="0">
                <a:solidFill>
                  <a:srgbClr val="14574B"/>
                </a:solidFill>
                <a:latin typeface="Calibri" pitchFamily="34" charset="0"/>
                <a:ea typeface="Calibri" pitchFamily="34" charset="-122"/>
                <a:cs typeface="Calibri" pitchFamily="34" charset="-120"/>
              </a:rPr>
              <a:t>The condition</a:t>
            </a:r>
            <a:endParaRPr lang="en-US" sz="1200" dirty="0"/>
          </a:p>
        </p:txBody>
      </p:sp>
      <p:sp>
        <p:nvSpPr>
          <p:cNvPr id="10" name="Text 7"/>
          <p:cNvSpPr txBox="1"/>
          <p:nvPr/>
        </p:nvSpPr>
        <p:spPr>
          <a:xfrm>
            <a:off x="5943600" y="1691640"/>
            <a:ext cx="2560320" cy="1554480"/>
          </a:xfrm>
          <a:prstGeom prst="rect">
            <a:avLst/>
          </a:prstGeom>
          <a:noFill/>
          <a:ln/>
        </p:spPr>
        <p:txBody>
          <a:bodyPr wrap="square" lIns="0" tIns="0" rIns="0" bIns="0" rtlCol="0" anchor="t"/>
          <a:lstStyle/>
          <a:p>
            <a:pPr indent="0" marL="0">
              <a:buNone/>
            </a:pPr>
            <a:r>
              <a:rPr lang="en-US" sz="1900" b="1" dirty="0">
                <a:solidFill>
                  <a:srgbClr val="16222B"/>
                </a:solidFill>
                <a:latin typeface="Cambria" pitchFamily="34" charset="0"/>
                <a:ea typeface="Cambria" pitchFamily="34" charset="-122"/>
                <a:cs typeface="Cambria" pitchFamily="34" charset="-120"/>
              </a:rPr>
              <a:t>AI may assist your thinking. It may not replace your understanding.</a:t>
            </a:r>
            <a:endParaRPr lang="en-US" sz="1900" dirty="0"/>
          </a:p>
        </p:txBody>
      </p:sp>
      <p:sp>
        <p:nvSpPr>
          <p:cNvPr id="11" name="Text 8"/>
          <p:cNvSpPr txBox="1"/>
          <p:nvPr/>
        </p:nvSpPr>
        <p:spPr>
          <a:xfrm>
            <a:off x="5943600" y="3246120"/>
            <a:ext cx="2560320" cy="1188720"/>
          </a:xfrm>
          <a:prstGeom prst="rect">
            <a:avLst/>
          </a:prstGeom>
          <a:noFill/>
          <a:ln/>
        </p:spPr>
        <p:txBody>
          <a:bodyPr wrap="square" lIns="0" tIns="0" rIns="0" bIns="0" rtlCol="0" anchor="t"/>
          <a:lstStyle/>
          <a:p>
            <a:pPr indent="0" marL="0">
              <a:buNone/>
            </a:pPr>
            <a:r>
              <a:rPr lang="en-US" sz="1400" dirty="0">
                <a:solidFill>
                  <a:srgbClr val="16222B"/>
                </a:solidFill>
                <a:latin typeface="Calibri" pitchFamily="34" charset="0"/>
                <a:ea typeface="Calibri" pitchFamily="34" charset="-122"/>
                <a:cs typeface="Calibri" pitchFamily="34" charset="-120"/>
              </a:rPr>
              <a:t>You remain responsible for every answer, calculation, explanation and conclusion you submit.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574B"/>
                </a:solidFill>
                <a:latin typeface="Cambria" pitchFamily="34" charset="0"/>
                <a:ea typeface="Cambria" pitchFamily="34" charset="-122"/>
                <a:cs typeface="Cambria" pitchFamily="34" charset="-120"/>
              </a:rPr>
              <a:t>Good ways to use AI</a:t>
            </a:r>
            <a:endParaRPr lang="en-US" sz="3200" dirty="0"/>
          </a:p>
        </p:txBody>
      </p:sp>
      <p:sp>
        <p:nvSpPr>
          <p:cNvPr id="4" name="Good 1"/>
          <p:cNvSpPr/>
          <p:nvPr/>
        </p:nvSpPr>
        <p:spPr>
          <a:xfrm>
            <a:off x="457200" y="1143000"/>
            <a:ext cx="8229600" cy="603504"/>
          </a:xfrm>
          <a:prstGeom prst="roundRect">
            <a:avLst>
              <a:gd name="adj" fmla="val 12121"/>
            </a:avLst>
          </a:prstGeom>
          <a:solidFill>
            <a:srgbClr val="FFFFFF"/>
          </a:solidFill>
          <a:ln w="9525">
            <a:solidFill>
              <a:srgbClr val="C7D2CB"/>
            </a:solidFill>
            <a:prstDash val="solid"/>
          </a:ln>
        </p:spPr>
      </p:sp>
      <p:sp>
        <p:nvSpPr>
          <p:cNvPr id="5" name="Text 2"/>
          <p:cNvSpPr txBox="1"/>
          <p:nvPr/>
        </p:nvSpPr>
        <p:spPr>
          <a:xfrm>
            <a:off x="566928" y="1234440"/>
            <a:ext cx="420624" cy="420624"/>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6" name="Text 3"/>
          <p:cNvSpPr txBox="1"/>
          <p:nvPr/>
        </p:nvSpPr>
        <p:spPr>
          <a:xfrm>
            <a:off x="1143000" y="1170432"/>
            <a:ext cx="2377440" cy="548640"/>
          </a:xfrm>
          <a:prstGeom prst="rect">
            <a:avLst/>
          </a:prstGeom>
          <a:noFill/>
          <a:ln/>
        </p:spPr>
        <p:txBody>
          <a:bodyPr wrap="square" lIns="0" tIns="0" rIns="0" bIns="0" rtlCol="0" anchor="ctr">
            <a:normAutofit/>
          </a:bodyPr>
          <a:lstStyle/>
          <a:p>
            <a:pPr indent="0" marL="0">
              <a:buNone/>
            </a:pPr>
            <a:r>
              <a:rPr lang="en-US" sz="1500" b="1" dirty="0">
                <a:solidFill>
                  <a:srgbClr val="14574B"/>
                </a:solidFill>
                <a:latin typeface="Cambria" pitchFamily="34" charset="0"/>
                <a:ea typeface="Cambria" pitchFamily="34" charset="-122"/>
                <a:cs typeface="Cambria" pitchFamily="34" charset="-120"/>
              </a:rPr>
              <a:t>Learn</a:t>
            </a:r>
            <a:endParaRPr lang="en-US" sz="1500" dirty="0"/>
          </a:p>
        </p:txBody>
      </p:sp>
      <p:sp>
        <p:nvSpPr>
          <p:cNvPr id="7" name="Text 4"/>
          <p:cNvSpPr txBox="1"/>
          <p:nvPr/>
        </p:nvSpPr>
        <p:spPr>
          <a:xfrm>
            <a:off x="3566160" y="1161288"/>
            <a:ext cx="5029200" cy="566928"/>
          </a:xfrm>
          <a:prstGeom prst="rect">
            <a:avLst/>
          </a:prstGeom>
          <a:noFill/>
          <a:ln/>
        </p:spPr>
        <p:txBody>
          <a:bodyPr wrap="square" lIns="0" tIns="0" rIns="0" bIns="0" rtlCol="0" anchor="ctr">
            <a:normAutofit/>
          </a:bodyPr>
          <a:lstStyle/>
          <a:p>
            <a:pPr indent="0" marL="0">
              <a:buNone/>
            </a:pPr>
            <a:r>
              <a:rPr lang="en-US" sz="1200" i="1" dirty="0">
                <a:solidFill>
                  <a:srgbClr val="16222B"/>
                </a:solidFill>
                <a:latin typeface="Calibri" pitchFamily="34" charset="0"/>
                <a:ea typeface="Calibri" pitchFamily="34" charset="-122"/>
                <a:cs typeface="Calibri" pitchFamily="34" charset="-120"/>
              </a:rPr>
              <a:t>“I don’t understand why an increase in accounts receivable reduces operating cash flow. Explain it to me.”</a:t>
            </a:r>
            <a:endParaRPr lang="en-US" sz="1200" dirty="0"/>
          </a:p>
        </p:txBody>
      </p:sp>
      <p:sp>
        <p:nvSpPr>
          <p:cNvPr id="8" name="Good 2"/>
          <p:cNvSpPr/>
          <p:nvPr/>
        </p:nvSpPr>
        <p:spPr>
          <a:xfrm>
            <a:off x="457200" y="1819656"/>
            <a:ext cx="8229600" cy="603504"/>
          </a:xfrm>
          <a:prstGeom prst="roundRect">
            <a:avLst>
              <a:gd name="adj" fmla="val 12121"/>
            </a:avLst>
          </a:prstGeom>
          <a:solidFill>
            <a:srgbClr val="FFFFFF"/>
          </a:solidFill>
          <a:ln w="9525">
            <a:solidFill>
              <a:srgbClr val="C7D2CB"/>
            </a:solidFill>
            <a:prstDash val="solid"/>
          </a:ln>
        </p:spPr>
      </p:sp>
      <p:sp>
        <p:nvSpPr>
          <p:cNvPr id="9" name="Text 6"/>
          <p:cNvSpPr txBox="1"/>
          <p:nvPr/>
        </p:nvSpPr>
        <p:spPr>
          <a:xfrm>
            <a:off x="566928" y="1911096"/>
            <a:ext cx="420624" cy="420624"/>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0" name="Text 7"/>
          <p:cNvSpPr txBox="1"/>
          <p:nvPr/>
        </p:nvSpPr>
        <p:spPr>
          <a:xfrm>
            <a:off x="1143000" y="1847088"/>
            <a:ext cx="2377440" cy="548640"/>
          </a:xfrm>
          <a:prstGeom prst="rect">
            <a:avLst/>
          </a:prstGeom>
          <a:noFill/>
          <a:ln/>
        </p:spPr>
        <p:txBody>
          <a:bodyPr wrap="square" lIns="0" tIns="0" rIns="0" bIns="0" rtlCol="0" anchor="ctr">
            <a:normAutofit/>
          </a:bodyPr>
          <a:lstStyle/>
          <a:p>
            <a:pPr indent="0" marL="0">
              <a:buNone/>
            </a:pPr>
            <a:r>
              <a:rPr lang="en-US" sz="1500" b="1" dirty="0">
                <a:solidFill>
                  <a:srgbClr val="14574B"/>
                </a:solidFill>
                <a:latin typeface="Cambria" pitchFamily="34" charset="0"/>
                <a:ea typeface="Cambria" pitchFamily="34" charset="-122"/>
                <a:cs typeface="Cambria" pitchFamily="34" charset="-120"/>
              </a:rPr>
              <a:t>Check</a:t>
            </a:r>
            <a:endParaRPr lang="en-US" sz="1500" dirty="0"/>
          </a:p>
        </p:txBody>
      </p:sp>
      <p:sp>
        <p:nvSpPr>
          <p:cNvPr id="11" name="Text 8"/>
          <p:cNvSpPr txBox="1"/>
          <p:nvPr/>
        </p:nvSpPr>
        <p:spPr>
          <a:xfrm>
            <a:off x="3566160" y="1837944"/>
            <a:ext cx="5029200" cy="566928"/>
          </a:xfrm>
          <a:prstGeom prst="rect">
            <a:avLst/>
          </a:prstGeom>
          <a:noFill/>
          <a:ln/>
        </p:spPr>
        <p:txBody>
          <a:bodyPr wrap="square" lIns="0" tIns="0" rIns="0" bIns="0" rtlCol="0" anchor="ctr">
            <a:normAutofit/>
          </a:bodyPr>
          <a:lstStyle/>
          <a:p>
            <a:pPr indent="0" marL="0">
              <a:buNone/>
            </a:pPr>
            <a:r>
              <a:rPr lang="en-US" sz="1200" i="1" dirty="0">
                <a:solidFill>
                  <a:srgbClr val="16222B"/>
                </a:solidFill>
                <a:latin typeface="Calibri" pitchFamily="34" charset="0"/>
                <a:ea typeface="Calibri" pitchFamily="34" charset="-122"/>
                <a:cs typeface="Calibri" pitchFamily="34" charset="-120"/>
              </a:rPr>
              <a:t>“I calculated a contribution margin of $42 per unit. Check my calculation and explain any error you find.”</a:t>
            </a:r>
            <a:endParaRPr lang="en-US" sz="1200" dirty="0"/>
          </a:p>
        </p:txBody>
      </p:sp>
      <p:sp>
        <p:nvSpPr>
          <p:cNvPr id="12" name="Good 3"/>
          <p:cNvSpPr/>
          <p:nvPr/>
        </p:nvSpPr>
        <p:spPr>
          <a:xfrm>
            <a:off x="457200" y="2496312"/>
            <a:ext cx="8229600" cy="603504"/>
          </a:xfrm>
          <a:prstGeom prst="roundRect">
            <a:avLst>
              <a:gd name="adj" fmla="val 12121"/>
            </a:avLst>
          </a:prstGeom>
          <a:solidFill>
            <a:srgbClr val="FFFFFF"/>
          </a:solidFill>
          <a:ln w="9525">
            <a:solidFill>
              <a:srgbClr val="C7D2CB"/>
            </a:solidFill>
            <a:prstDash val="solid"/>
          </a:ln>
        </p:spPr>
      </p:sp>
      <p:sp>
        <p:nvSpPr>
          <p:cNvPr id="13" name="Text 10"/>
          <p:cNvSpPr txBox="1"/>
          <p:nvPr/>
        </p:nvSpPr>
        <p:spPr>
          <a:xfrm>
            <a:off x="566928" y="2587752"/>
            <a:ext cx="420624" cy="420624"/>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4" name="Text 11"/>
          <p:cNvSpPr txBox="1"/>
          <p:nvPr/>
        </p:nvSpPr>
        <p:spPr>
          <a:xfrm>
            <a:off x="1143000" y="2523744"/>
            <a:ext cx="2377440" cy="548640"/>
          </a:xfrm>
          <a:prstGeom prst="rect">
            <a:avLst/>
          </a:prstGeom>
          <a:noFill/>
          <a:ln/>
        </p:spPr>
        <p:txBody>
          <a:bodyPr wrap="square" lIns="0" tIns="0" rIns="0" bIns="0" rtlCol="0" anchor="ctr">
            <a:normAutofit/>
          </a:bodyPr>
          <a:lstStyle/>
          <a:p>
            <a:pPr indent="0" marL="0">
              <a:buNone/>
            </a:pPr>
            <a:r>
              <a:rPr lang="en-US" sz="1500" b="1" dirty="0">
                <a:solidFill>
                  <a:srgbClr val="14574B"/>
                </a:solidFill>
                <a:latin typeface="Cambria" pitchFamily="34" charset="0"/>
                <a:ea typeface="Cambria" pitchFamily="34" charset="-122"/>
                <a:cs typeface="Cambria" pitchFamily="34" charset="-120"/>
              </a:rPr>
              <a:t>Diagnose</a:t>
            </a:r>
            <a:endParaRPr lang="en-US" sz="1500" dirty="0"/>
          </a:p>
        </p:txBody>
      </p:sp>
      <p:sp>
        <p:nvSpPr>
          <p:cNvPr id="15" name="Text 12"/>
          <p:cNvSpPr txBox="1"/>
          <p:nvPr/>
        </p:nvSpPr>
        <p:spPr>
          <a:xfrm>
            <a:off x="3566160" y="2514600"/>
            <a:ext cx="5029200" cy="566928"/>
          </a:xfrm>
          <a:prstGeom prst="rect">
            <a:avLst/>
          </a:prstGeom>
          <a:noFill/>
          <a:ln/>
        </p:spPr>
        <p:txBody>
          <a:bodyPr wrap="square" lIns="0" tIns="0" rIns="0" bIns="0" rtlCol="0" anchor="ctr">
            <a:normAutofit/>
          </a:bodyPr>
          <a:lstStyle/>
          <a:p>
            <a:pPr indent="0" marL="0">
              <a:buNone/>
            </a:pPr>
            <a:r>
              <a:rPr lang="en-US" sz="1200" i="1" dirty="0">
                <a:solidFill>
                  <a:srgbClr val="16222B"/>
                </a:solidFill>
                <a:latin typeface="Calibri" pitchFamily="34" charset="0"/>
                <a:ea typeface="Calibri" pitchFamily="34" charset="-122"/>
                <a:cs typeface="Calibri" pitchFamily="34" charset="-120"/>
              </a:rPr>
              <a:t>“My answer doesn’t match the expected result. Here is my approach. Help me identify where my reasoning may have gone wrong.”</a:t>
            </a:r>
            <a:endParaRPr lang="en-US" sz="1200" dirty="0"/>
          </a:p>
        </p:txBody>
      </p:sp>
      <p:sp>
        <p:nvSpPr>
          <p:cNvPr id="16" name="Good 4"/>
          <p:cNvSpPr/>
          <p:nvPr/>
        </p:nvSpPr>
        <p:spPr>
          <a:xfrm>
            <a:off x="457200" y="3172968"/>
            <a:ext cx="8229600" cy="603504"/>
          </a:xfrm>
          <a:prstGeom prst="roundRect">
            <a:avLst>
              <a:gd name="adj" fmla="val 12121"/>
            </a:avLst>
          </a:prstGeom>
          <a:solidFill>
            <a:srgbClr val="FFFFFF"/>
          </a:solidFill>
          <a:ln w="9525">
            <a:solidFill>
              <a:srgbClr val="C7D2CB"/>
            </a:solidFill>
            <a:prstDash val="solid"/>
          </a:ln>
        </p:spPr>
      </p:sp>
      <p:sp>
        <p:nvSpPr>
          <p:cNvPr id="17" name="Text 14"/>
          <p:cNvSpPr txBox="1"/>
          <p:nvPr/>
        </p:nvSpPr>
        <p:spPr>
          <a:xfrm>
            <a:off x="566928" y="3264408"/>
            <a:ext cx="420624" cy="420624"/>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5"/>
          <p:cNvSpPr txBox="1"/>
          <p:nvPr/>
        </p:nvSpPr>
        <p:spPr>
          <a:xfrm>
            <a:off x="1143000" y="3200400"/>
            <a:ext cx="2377440" cy="548640"/>
          </a:xfrm>
          <a:prstGeom prst="rect">
            <a:avLst/>
          </a:prstGeom>
          <a:noFill/>
          <a:ln/>
        </p:spPr>
        <p:txBody>
          <a:bodyPr wrap="square" lIns="0" tIns="0" rIns="0" bIns="0" rtlCol="0" anchor="ctr">
            <a:normAutofit/>
          </a:bodyPr>
          <a:lstStyle/>
          <a:p>
            <a:pPr indent="0" marL="0">
              <a:buNone/>
            </a:pPr>
            <a:r>
              <a:rPr lang="en-US" sz="1500" b="1" dirty="0">
                <a:solidFill>
                  <a:srgbClr val="14574B"/>
                </a:solidFill>
                <a:latin typeface="Cambria" pitchFamily="34" charset="0"/>
                <a:ea typeface="Cambria" pitchFamily="34" charset="-122"/>
                <a:cs typeface="Cambria" pitchFamily="34" charset="-120"/>
              </a:rPr>
              <a:t>Explore</a:t>
            </a:r>
            <a:endParaRPr lang="en-US" sz="1500" dirty="0"/>
          </a:p>
        </p:txBody>
      </p:sp>
      <p:sp>
        <p:nvSpPr>
          <p:cNvPr id="19" name="Text 16"/>
          <p:cNvSpPr txBox="1"/>
          <p:nvPr/>
        </p:nvSpPr>
        <p:spPr>
          <a:xfrm>
            <a:off x="3566160" y="3191256"/>
            <a:ext cx="5029200" cy="566928"/>
          </a:xfrm>
          <a:prstGeom prst="rect">
            <a:avLst/>
          </a:prstGeom>
          <a:noFill/>
          <a:ln/>
        </p:spPr>
        <p:txBody>
          <a:bodyPr wrap="square" lIns="0" tIns="0" rIns="0" bIns="0" rtlCol="0" anchor="ctr">
            <a:normAutofit/>
          </a:bodyPr>
          <a:lstStyle/>
          <a:p>
            <a:pPr indent="0" marL="0">
              <a:buNone/>
            </a:pPr>
            <a:r>
              <a:rPr lang="en-US" sz="1200" i="1" dirty="0">
                <a:solidFill>
                  <a:srgbClr val="16222B"/>
                </a:solidFill>
                <a:latin typeface="Calibri" pitchFamily="34" charset="0"/>
                <a:ea typeface="Calibri" pitchFamily="34" charset="-122"/>
                <a:cs typeface="Calibri" pitchFamily="34" charset="-120"/>
              </a:rPr>
              <a:t>“What factors should a manager consider when deciding whether to accept a special order?”</a:t>
            </a:r>
            <a:endParaRPr lang="en-US" sz="1200" dirty="0"/>
          </a:p>
        </p:txBody>
      </p:sp>
      <p:sp>
        <p:nvSpPr>
          <p:cNvPr id="20" name="Good 5"/>
          <p:cNvSpPr/>
          <p:nvPr/>
        </p:nvSpPr>
        <p:spPr>
          <a:xfrm>
            <a:off x="457200" y="3849624"/>
            <a:ext cx="8229600" cy="603504"/>
          </a:xfrm>
          <a:prstGeom prst="roundRect">
            <a:avLst>
              <a:gd name="adj" fmla="val 12121"/>
            </a:avLst>
          </a:prstGeom>
          <a:solidFill>
            <a:srgbClr val="FFFFFF"/>
          </a:solidFill>
          <a:ln w="9525">
            <a:solidFill>
              <a:srgbClr val="C7D2CB"/>
            </a:solidFill>
            <a:prstDash val="solid"/>
          </a:ln>
        </p:spPr>
      </p:sp>
      <p:sp>
        <p:nvSpPr>
          <p:cNvPr id="21" name="Text 18"/>
          <p:cNvSpPr txBox="1"/>
          <p:nvPr/>
        </p:nvSpPr>
        <p:spPr>
          <a:xfrm>
            <a:off x="566928" y="3941064"/>
            <a:ext cx="420624" cy="420624"/>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19"/>
          <p:cNvSpPr txBox="1"/>
          <p:nvPr/>
        </p:nvSpPr>
        <p:spPr>
          <a:xfrm>
            <a:off x="1143000" y="3877056"/>
            <a:ext cx="2377440" cy="548640"/>
          </a:xfrm>
          <a:prstGeom prst="rect">
            <a:avLst/>
          </a:prstGeom>
          <a:noFill/>
          <a:ln/>
        </p:spPr>
        <p:txBody>
          <a:bodyPr wrap="square" lIns="0" tIns="0" rIns="0" bIns="0" rtlCol="0" anchor="ctr">
            <a:normAutofit/>
          </a:bodyPr>
          <a:lstStyle/>
          <a:p>
            <a:pPr indent="0" marL="0">
              <a:buNone/>
            </a:pPr>
            <a:r>
              <a:rPr lang="en-US" sz="1500" b="1" dirty="0">
                <a:solidFill>
                  <a:srgbClr val="14574B"/>
                </a:solidFill>
                <a:latin typeface="Cambria" pitchFamily="34" charset="0"/>
                <a:ea typeface="Cambria" pitchFamily="34" charset="-122"/>
                <a:cs typeface="Cambria" pitchFamily="34" charset="-120"/>
              </a:rPr>
              <a:t>Challenge your reasoning</a:t>
            </a:r>
            <a:endParaRPr lang="en-US" sz="1500" dirty="0"/>
          </a:p>
        </p:txBody>
      </p:sp>
      <p:sp>
        <p:nvSpPr>
          <p:cNvPr id="23" name="Text 20"/>
          <p:cNvSpPr txBox="1"/>
          <p:nvPr/>
        </p:nvSpPr>
        <p:spPr>
          <a:xfrm>
            <a:off x="3566160" y="3867912"/>
            <a:ext cx="5029200" cy="566928"/>
          </a:xfrm>
          <a:prstGeom prst="rect">
            <a:avLst/>
          </a:prstGeom>
          <a:noFill/>
          <a:ln/>
        </p:spPr>
        <p:txBody>
          <a:bodyPr wrap="square" lIns="0" tIns="0" rIns="0" bIns="0" rtlCol="0" anchor="ctr">
            <a:normAutofit/>
          </a:bodyPr>
          <a:lstStyle/>
          <a:p>
            <a:pPr indent="0" marL="0">
              <a:buNone/>
            </a:pPr>
            <a:r>
              <a:rPr lang="en-US" sz="1200" i="1" dirty="0">
                <a:solidFill>
                  <a:srgbClr val="16222B"/>
                </a:solidFill>
                <a:latin typeface="Calibri" pitchFamily="34" charset="0"/>
                <a:ea typeface="Calibri" pitchFamily="34" charset="-122"/>
                <a:cs typeface="Calibri" pitchFamily="34" charset="-120"/>
              </a:rPr>
              <a:t>“Here is my conclusion. What assumptions am I making, and what facts might cause a manager to reach a different conclusion?”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574B"/>
                </a:solidFill>
                <a:latin typeface="Cambria" pitchFamily="34" charset="0"/>
                <a:ea typeface="Cambria" pitchFamily="34" charset="-122"/>
                <a:cs typeface="Cambria" pitchFamily="34" charset="-120"/>
              </a:rPr>
              <a:t>Risky ways to use AI</a:t>
            </a:r>
            <a:endParaRPr lang="en-US" sz="3200" dirty="0"/>
          </a:p>
        </p:txBody>
      </p:sp>
      <p:sp>
        <p:nvSpPr>
          <p:cNvPr id="4" name="Risk 1"/>
          <p:cNvSpPr/>
          <p:nvPr/>
        </p:nvSpPr>
        <p:spPr>
          <a:xfrm>
            <a:off x="457200" y="1188720"/>
            <a:ext cx="2651760" cy="3337560"/>
          </a:xfrm>
          <a:prstGeom prst="roundRect">
            <a:avLst>
              <a:gd name="adj" fmla="val 2759"/>
            </a:avLst>
          </a:prstGeom>
          <a:solidFill>
            <a:srgbClr val="FFFFFF"/>
          </a:solidFill>
          <a:ln w="9525">
            <a:solidFill>
              <a:srgbClr val="C7D2CB"/>
            </a:solidFill>
            <a:prstDash val="solid"/>
          </a:ln>
        </p:spPr>
      </p:sp>
      <p:sp>
        <p:nvSpPr>
          <p:cNvPr id="5" name="Text 2"/>
          <p:cNvSpPr txBox="1"/>
          <p:nvPr/>
        </p:nvSpPr>
        <p:spPr>
          <a:xfrm>
            <a:off x="640080" y="1371600"/>
            <a:ext cx="457200" cy="457200"/>
          </a:xfrm>
          <a:prstGeom prst="ellipse">
            <a:avLst/>
          </a:prstGeom>
          <a:solidFill>
            <a:srgbClr val="9B2C1F"/>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3"/>
          <p:cNvSpPr txBox="1"/>
          <p:nvPr/>
        </p:nvSpPr>
        <p:spPr>
          <a:xfrm>
            <a:off x="1234440" y="1463040"/>
            <a:ext cx="1645920" cy="274320"/>
          </a:xfrm>
          <a:prstGeom prst="rect">
            <a:avLst/>
          </a:prstGeom>
          <a:noFill/>
          <a:ln/>
        </p:spPr>
        <p:txBody>
          <a:bodyPr wrap="square" lIns="0" tIns="0" rIns="0" bIns="0" rtlCol="0" anchor="ctr"/>
          <a:lstStyle/>
          <a:p>
            <a:pPr indent="0" marL="0">
              <a:buNone/>
            </a:pPr>
            <a:r>
              <a:rPr lang="en-US" sz="1200" b="1" spc="300" kern="0" dirty="0">
                <a:solidFill>
                  <a:srgbClr val="9B2C1F"/>
                </a:solidFill>
                <a:latin typeface="Calibri" pitchFamily="34" charset="0"/>
                <a:ea typeface="Calibri" pitchFamily="34" charset="-122"/>
                <a:cs typeface="Calibri" pitchFamily="34" charset="-120"/>
              </a:rPr>
              <a:t>RISKY</a:t>
            </a:r>
            <a:endParaRPr lang="en-US" sz="1200" dirty="0"/>
          </a:p>
        </p:txBody>
      </p:sp>
      <p:sp>
        <p:nvSpPr>
          <p:cNvPr id="7" name="Text 4"/>
          <p:cNvSpPr txBox="1"/>
          <p:nvPr/>
        </p:nvSpPr>
        <p:spPr>
          <a:xfrm>
            <a:off x="640080" y="1965960"/>
            <a:ext cx="2286000" cy="868680"/>
          </a:xfrm>
          <a:prstGeom prst="rect">
            <a:avLst/>
          </a:prstGeom>
          <a:noFill/>
          <a:ln/>
        </p:spPr>
        <p:txBody>
          <a:bodyPr wrap="square" lIns="0" tIns="0" rIns="0" bIns="0" rtlCol="0" anchor="t"/>
          <a:lstStyle/>
          <a:p>
            <a:pPr indent="0" marL="0">
              <a:buNone/>
            </a:pPr>
            <a:r>
              <a:rPr lang="en-US" sz="1700" b="1" dirty="0">
                <a:solidFill>
                  <a:srgbClr val="14574B"/>
                </a:solidFill>
                <a:latin typeface="Cambria" pitchFamily="34" charset="0"/>
                <a:ea typeface="Cambria" pitchFamily="34" charset="-122"/>
                <a:cs typeface="Cambria" pitchFamily="34" charset="-120"/>
              </a:rPr>
              <a:t>Asking AI to do the entire assessment</a:t>
            </a:r>
            <a:endParaRPr lang="en-US" sz="1700" dirty="0"/>
          </a:p>
        </p:txBody>
      </p:sp>
      <p:sp>
        <p:nvSpPr>
          <p:cNvPr id="8" name="Text 5"/>
          <p:cNvSpPr txBox="1"/>
          <p:nvPr/>
        </p:nvSpPr>
        <p:spPr>
          <a:xfrm>
            <a:off x="640080" y="2880360"/>
            <a:ext cx="2286000" cy="1600200"/>
          </a:xfrm>
          <a:prstGeom prst="rect">
            <a:avLst/>
          </a:prstGeom>
          <a:noFill/>
          <a:ln/>
        </p:spPr>
        <p:txBody>
          <a:bodyPr wrap="square" lIns="0" tIns="0" rIns="0" bIns="0" rtlCol="0" anchor="t"/>
          <a:lstStyle/>
          <a:p>
            <a:pPr indent="0" marL="0">
              <a:buNone/>
            </a:pPr>
            <a:r>
              <a:rPr lang="en-US" sz="1400" dirty="0">
                <a:solidFill>
                  <a:srgbClr val="16222B"/>
                </a:solidFill>
                <a:latin typeface="Calibri" pitchFamily="34" charset="0"/>
                <a:ea typeface="Calibri" pitchFamily="34" charset="-122"/>
                <a:cs typeface="Calibri" pitchFamily="34" charset="-120"/>
              </a:rPr>
              <a:t>“Here is my assignment. Solve every question and give me the answers.” You get little chance to find out whether you understand the material.</a:t>
            </a:r>
            <a:endParaRPr lang="en-US" sz="1400" dirty="0"/>
          </a:p>
        </p:txBody>
      </p:sp>
      <p:sp>
        <p:nvSpPr>
          <p:cNvPr id="9" name="Risk 2"/>
          <p:cNvSpPr/>
          <p:nvPr/>
        </p:nvSpPr>
        <p:spPr>
          <a:xfrm>
            <a:off x="3291840" y="1188720"/>
            <a:ext cx="2651760" cy="3337560"/>
          </a:xfrm>
          <a:prstGeom prst="roundRect">
            <a:avLst>
              <a:gd name="adj" fmla="val 2759"/>
            </a:avLst>
          </a:prstGeom>
          <a:solidFill>
            <a:srgbClr val="FFFFFF"/>
          </a:solidFill>
          <a:ln w="9525">
            <a:solidFill>
              <a:srgbClr val="C7D2CB"/>
            </a:solidFill>
            <a:prstDash val="solid"/>
          </a:ln>
        </p:spPr>
      </p:sp>
      <p:sp>
        <p:nvSpPr>
          <p:cNvPr id="10" name="Text 7"/>
          <p:cNvSpPr txBox="1"/>
          <p:nvPr/>
        </p:nvSpPr>
        <p:spPr>
          <a:xfrm>
            <a:off x="3474720" y="1371600"/>
            <a:ext cx="457200" cy="457200"/>
          </a:xfrm>
          <a:prstGeom prst="ellipse">
            <a:avLst/>
          </a:prstGeom>
          <a:solidFill>
            <a:srgbClr val="9B2C1F"/>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1" name="Text 8"/>
          <p:cNvSpPr txBox="1"/>
          <p:nvPr/>
        </p:nvSpPr>
        <p:spPr>
          <a:xfrm>
            <a:off x="4069080" y="1463040"/>
            <a:ext cx="1645920" cy="274320"/>
          </a:xfrm>
          <a:prstGeom prst="rect">
            <a:avLst/>
          </a:prstGeom>
          <a:noFill/>
          <a:ln/>
        </p:spPr>
        <p:txBody>
          <a:bodyPr wrap="square" lIns="0" tIns="0" rIns="0" bIns="0" rtlCol="0" anchor="ctr"/>
          <a:lstStyle/>
          <a:p>
            <a:pPr indent="0" marL="0">
              <a:buNone/>
            </a:pPr>
            <a:r>
              <a:rPr lang="en-US" sz="1200" b="1" spc="300" kern="0" dirty="0">
                <a:solidFill>
                  <a:srgbClr val="9B2C1F"/>
                </a:solidFill>
                <a:latin typeface="Calibri" pitchFamily="34" charset="0"/>
                <a:ea typeface="Calibri" pitchFamily="34" charset="-122"/>
                <a:cs typeface="Calibri" pitchFamily="34" charset="-120"/>
              </a:rPr>
              <a:t>RISKY</a:t>
            </a:r>
            <a:endParaRPr lang="en-US" sz="1200" dirty="0"/>
          </a:p>
        </p:txBody>
      </p:sp>
      <p:sp>
        <p:nvSpPr>
          <p:cNvPr id="12" name="Text 9"/>
          <p:cNvSpPr txBox="1"/>
          <p:nvPr/>
        </p:nvSpPr>
        <p:spPr>
          <a:xfrm>
            <a:off x="3474720" y="1965960"/>
            <a:ext cx="2286000" cy="868680"/>
          </a:xfrm>
          <a:prstGeom prst="rect">
            <a:avLst/>
          </a:prstGeom>
          <a:noFill/>
          <a:ln/>
        </p:spPr>
        <p:txBody>
          <a:bodyPr wrap="square" lIns="0" tIns="0" rIns="0" bIns="0" rtlCol="0" anchor="t"/>
          <a:lstStyle/>
          <a:p>
            <a:pPr indent="0" marL="0">
              <a:buNone/>
            </a:pPr>
            <a:r>
              <a:rPr lang="en-US" sz="1700" b="1" dirty="0">
                <a:solidFill>
                  <a:srgbClr val="14574B"/>
                </a:solidFill>
                <a:latin typeface="Cambria" pitchFamily="34" charset="0"/>
                <a:ea typeface="Cambria" pitchFamily="34" charset="-122"/>
                <a:cs typeface="Cambria" pitchFamily="34" charset="-120"/>
              </a:rPr>
              <a:t>Copying without checking</a:t>
            </a:r>
            <a:endParaRPr lang="en-US" sz="1700" dirty="0"/>
          </a:p>
        </p:txBody>
      </p:sp>
      <p:sp>
        <p:nvSpPr>
          <p:cNvPr id="13" name="Text 10"/>
          <p:cNvSpPr txBox="1"/>
          <p:nvPr/>
        </p:nvSpPr>
        <p:spPr>
          <a:xfrm>
            <a:off x="3474720" y="2880360"/>
            <a:ext cx="2286000" cy="1600200"/>
          </a:xfrm>
          <a:prstGeom prst="rect">
            <a:avLst/>
          </a:prstGeom>
          <a:noFill/>
          <a:ln/>
        </p:spPr>
        <p:txBody>
          <a:bodyPr wrap="square" lIns="0" tIns="0" rIns="0" bIns="0" rtlCol="0" anchor="t"/>
          <a:lstStyle/>
          <a:p>
            <a:pPr indent="0" marL="0">
              <a:buNone/>
            </a:pPr>
            <a:r>
              <a:rPr lang="en-US" sz="1400" dirty="0">
                <a:solidFill>
                  <a:srgbClr val="16222B"/>
                </a:solidFill>
                <a:latin typeface="Calibri" pitchFamily="34" charset="0"/>
                <a:ea typeface="Calibri" pitchFamily="34" charset="-122"/>
                <a:cs typeface="Calibri" pitchFamily="34" charset="-120"/>
              </a:rPr>
              <a:t>AI can confidently produce incorrect calculations and reasoning. A polished answer is not necessarily a correct answer.</a:t>
            </a:r>
            <a:endParaRPr lang="en-US" sz="1400" dirty="0"/>
          </a:p>
        </p:txBody>
      </p:sp>
      <p:sp>
        <p:nvSpPr>
          <p:cNvPr id="14" name="Risk 3"/>
          <p:cNvSpPr/>
          <p:nvPr/>
        </p:nvSpPr>
        <p:spPr>
          <a:xfrm>
            <a:off x="6126480" y="1188720"/>
            <a:ext cx="2651760" cy="3337560"/>
          </a:xfrm>
          <a:prstGeom prst="roundRect">
            <a:avLst>
              <a:gd name="adj" fmla="val 2759"/>
            </a:avLst>
          </a:prstGeom>
          <a:solidFill>
            <a:srgbClr val="FFFFFF"/>
          </a:solidFill>
          <a:ln w="9525">
            <a:solidFill>
              <a:srgbClr val="C7D2CB"/>
            </a:solidFill>
            <a:prstDash val="solid"/>
          </a:ln>
        </p:spPr>
      </p:sp>
      <p:sp>
        <p:nvSpPr>
          <p:cNvPr id="15" name="Text 12"/>
          <p:cNvSpPr txBox="1"/>
          <p:nvPr/>
        </p:nvSpPr>
        <p:spPr>
          <a:xfrm>
            <a:off x="6309360" y="1371600"/>
            <a:ext cx="457200" cy="457200"/>
          </a:xfrm>
          <a:prstGeom prst="ellipse">
            <a:avLst/>
          </a:prstGeom>
          <a:solidFill>
            <a:srgbClr val="9B2C1F"/>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6" name="Text 13"/>
          <p:cNvSpPr txBox="1"/>
          <p:nvPr/>
        </p:nvSpPr>
        <p:spPr>
          <a:xfrm>
            <a:off x="6903720" y="1463040"/>
            <a:ext cx="1645920" cy="274320"/>
          </a:xfrm>
          <a:prstGeom prst="rect">
            <a:avLst/>
          </a:prstGeom>
          <a:noFill/>
          <a:ln/>
        </p:spPr>
        <p:txBody>
          <a:bodyPr wrap="square" lIns="0" tIns="0" rIns="0" bIns="0" rtlCol="0" anchor="ctr"/>
          <a:lstStyle/>
          <a:p>
            <a:pPr indent="0" marL="0">
              <a:buNone/>
            </a:pPr>
            <a:r>
              <a:rPr lang="en-US" sz="1200" b="1" spc="300" kern="0" dirty="0">
                <a:solidFill>
                  <a:srgbClr val="9B2C1F"/>
                </a:solidFill>
                <a:latin typeface="Calibri" pitchFamily="34" charset="0"/>
                <a:ea typeface="Calibri" pitchFamily="34" charset="-122"/>
                <a:cs typeface="Calibri" pitchFamily="34" charset="-120"/>
              </a:rPr>
              <a:t>RISKY</a:t>
            </a:r>
            <a:endParaRPr lang="en-US" sz="1200" dirty="0"/>
          </a:p>
        </p:txBody>
      </p:sp>
      <p:sp>
        <p:nvSpPr>
          <p:cNvPr id="17" name="Text 14"/>
          <p:cNvSpPr txBox="1"/>
          <p:nvPr/>
        </p:nvSpPr>
        <p:spPr>
          <a:xfrm>
            <a:off x="6309360" y="1965960"/>
            <a:ext cx="2286000" cy="868680"/>
          </a:xfrm>
          <a:prstGeom prst="rect">
            <a:avLst/>
          </a:prstGeom>
          <a:noFill/>
          <a:ln/>
        </p:spPr>
        <p:txBody>
          <a:bodyPr wrap="square" lIns="0" tIns="0" rIns="0" bIns="0" rtlCol="0" anchor="t"/>
          <a:lstStyle/>
          <a:p>
            <a:pPr indent="0" marL="0">
              <a:buNone/>
            </a:pPr>
            <a:r>
              <a:rPr lang="en-US" sz="1700" b="1" dirty="0">
                <a:solidFill>
                  <a:srgbClr val="14574B"/>
                </a:solidFill>
                <a:latin typeface="Cambria" pitchFamily="34" charset="0"/>
                <a:ea typeface="Cambria" pitchFamily="34" charset="-122"/>
                <a:cs typeface="Cambria" pitchFamily="34" charset="-120"/>
              </a:rPr>
              <a:t>Letting AI make your judgment for you</a:t>
            </a:r>
            <a:endParaRPr lang="en-US" sz="1700" dirty="0"/>
          </a:p>
        </p:txBody>
      </p:sp>
      <p:sp>
        <p:nvSpPr>
          <p:cNvPr id="18" name="Text 15"/>
          <p:cNvSpPr txBox="1"/>
          <p:nvPr/>
        </p:nvSpPr>
        <p:spPr>
          <a:xfrm>
            <a:off x="6309360" y="2880360"/>
            <a:ext cx="2286000" cy="1600200"/>
          </a:xfrm>
          <a:prstGeom prst="rect">
            <a:avLst/>
          </a:prstGeom>
          <a:noFill/>
          <a:ln/>
        </p:spPr>
        <p:txBody>
          <a:bodyPr wrap="square" lIns="0" tIns="0" rIns="0" bIns="0" rtlCol="0" anchor="t"/>
          <a:lstStyle/>
          <a:p>
            <a:pPr indent="0" marL="0">
              <a:buNone/>
            </a:pPr>
            <a:r>
              <a:rPr lang="en-US" sz="1400" dirty="0">
                <a:solidFill>
                  <a:srgbClr val="16222B"/>
                </a:solidFill>
                <a:latin typeface="Calibri" pitchFamily="34" charset="0"/>
                <a:ea typeface="Calibri" pitchFamily="34" charset="-122"/>
                <a:cs typeface="Calibri" pitchFamily="34" charset="-120"/>
              </a:rPr>
              <a:t>“Tell me which alternative the company should choose and write my justification.” The professional judgment should be yours.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574B"/>
                </a:solidFill>
                <a:latin typeface="Cambria" pitchFamily="34" charset="0"/>
                <a:ea typeface="Cambria" pitchFamily="34" charset="-122"/>
                <a:cs typeface="Cambria" pitchFamily="34" charset="-120"/>
              </a:rPr>
              <a:t>Not permitted</a:t>
            </a:r>
            <a:endParaRPr lang="en-US" sz="3200" dirty="0"/>
          </a:p>
        </p:txBody>
      </p:sp>
      <p:sp>
        <p:nvSpPr>
          <p:cNvPr id="4" name="Not permitted 1"/>
          <p:cNvSpPr/>
          <p:nvPr/>
        </p:nvSpPr>
        <p:spPr>
          <a:xfrm>
            <a:off x="457200" y="1188720"/>
            <a:ext cx="5394960" cy="566928"/>
          </a:xfrm>
          <a:prstGeom prst="roundRect">
            <a:avLst>
              <a:gd name="adj" fmla="val 12903"/>
            </a:avLst>
          </a:prstGeom>
          <a:solidFill>
            <a:srgbClr val="FFFFFF"/>
          </a:solidFill>
          <a:ln w="9525">
            <a:solidFill>
              <a:srgbClr val="C7D2CB"/>
            </a:solidFill>
            <a:prstDash val="solid"/>
          </a:ln>
        </p:spPr>
      </p:sp>
      <p:sp>
        <p:nvSpPr>
          <p:cNvPr id="5" name="Text 2"/>
          <p:cNvSpPr txBox="1"/>
          <p:nvPr/>
        </p:nvSpPr>
        <p:spPr>
          <a:xfrm>
            <a:off x="566928" y="1261872"/>
            <a:ext cx="420624" cy="420624"/>
          </a:xfrm>
          <a:prstGeom prst="ellipse">
            <a:avLst/>
          </a:prstGeom>
          <a:solidFill>
            <a:srgbClr val="9B2C1F"/>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3"/>
          <p:cNvSpPr txBox="1"/>
          <p:nvPr/>
        </p:nvSpPr>
        <p:spPr>
          <a:xfrm>
            <a:off x="1143000" y="1207008"/>
            <a:ext cx="4617720" cy="530352"/>
          </a:xfrm>
          <a:prstGeom prst="rect">
            <a:avLst/>
          </a:prstGeom>
          <a:noFill/>
          <a:ln/>
        </p:spPr>
        <p:txBody>
          <a:bodyPr wrap="square" lIns="0" tIns="0" rIns="0" bIns="0" rtlCol="0" anchor="ctr">
            <a:normAutofit/>
          </a:bodyPr>
          <a:lstStyle/>
          <a:p>
            <a:pPr indent="0" marL="0">
              <a:buNone/>
            </a:pPr>
            <a:r>
              <a:rPr lang="en-US" sz="1400" dirty="0">
                <a:solidFill>
                  <a:srgbClr val="16222B"/>
                </a:solidFill>
                <a:latin typeface="Calibri" pitchFamily="34" charset="0"/>
                <a:ea typeface="Calibri" pitchFamily="34" charset="-122"/>
                <a:cs typeface="Calibri" pitchFamily="34" charset="-120"/>
              </a:rPr>
              <a:t>Collaborate with another student on an individual assessment.</a:t>
            </a:r>
            <a:endParaRPr lang="en-US" sz="1400" dirty="0"/>
          </a:p>
        </p:txBody>
      </p:sp>
      <p:sp>
        <p:nvSpPr>
          <p:cNvPr id="7" name="Not permitted 2"/>
          <p:cNvSpPr/>
          <p:nvPr/>
        </p:nvSpPr>
        <p:spPr>
          <a:xfrm>
            <a:off x="457200" y="1847088"/>
            <a:ext cx="5394960" cy="566928"/>
          </a:xfrm>
          <a:prstGeom prst="roundRect">
            <a:avLst>
              <a:gd name="adj" fmla="val 12903"/>
            </a:avLst>
          </a:prstGeom>
          <a:solidFill>
            <a:srgbClr val="FFFFFF"/>
          </a:solidFill>
          <a:ln w="9525">
            <a:solidFill>
              <a:srgbClr val="C7D2CB"/>
            </a:solidFill>
            <a:prstDash val="solid"/>
          </a:ln>
        </p:spPr>
      </p:sp>
      <p:sp>
        <p:nvSpPr>
          <p:cNvPr id="8" name="Text 5"/>
          <p:cNvSpPr txBox="1"/>
          <p:nvPr/>
        </p:nvSpPr>
        <p:spPr>
          <a:xfrm>
            <a:off x="566928" y="1920240"/>
            <a:ext cx="420624" cy="420624"/>
          </a:xfrm>
          <a:prstGeom prst="ellipse">
            <a:avLst/>
          </a:prstGeom>
          <a:solidFill>
            <a:srgbClr val="9B2C1F"/>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6"/>
          <p:cNvSpPr txBox="1"/>
          <p:nvPr/>
        </p:nvSpPr>
        <p:spPr>
          <a:xfrm>
            <a:off x="1143000" y="1865376"/>
            <a:ext cx="4617720" cy="530352"/>
          </a:xfrm>
          <a:prstGeom prst="rect">
            <a:avLst/>
          </a:prstGeom>
          <a:noFill/>
          <a:ln/>
        </p:spPr>
        <p:txBody>
          <a:bodyPr wrap="square" lIns="0" tIns="0" rIns="0" bIns="0" rtlCol="0" anchor="ctr">
            <a:normAutofit/>
          </a:bodyPr>
          <a:lstStyle/>
          <a:p>
            <a:pPr indent="0" marL="0">
              <a:buNone/>
            </a:pPr>
            <a:r>
              <a:rPr lang="en-US" sz="1400" dirty="0">
                <a:solidFill>
                  <a:srgbClr val="16222B"/>
                </a:solidFill>
                <a:latin typeface="Calibri" pitchFamily="34" charset="0"/>
                <a:ea typeface="Calibri" pitchFamily="34" charset="-122"/>
                <a:cs typeface="Calibri" pitchFamily="34" charset="-120"/>
              </a:rPr>
              <a:t>Give another student your assessment questions or answers.</a:t>
            </a:r>
            <a:endParaRPr lang="en-US" sz="1400" dirty="0"/>
          </a:p>
        </p:txBody>
      </p:sp>
      <p:sp>
        <p:nvSpPr>
          <p:cNvPr id="10" name="Not permitted 3"/>
          <p:cNvSpPr/>
          <p:nvPr/>
        </p:nvSpPr>
        <p:spPr>
          <a:xfrm>
            <a:off x="457200" y="2505456"/>
            <a:ext cx="5394960" cy="566928"/>
          </a:xfrm>
          <a:prstGeom prst="roundRect">
            <a:avLst>
              <a:gd name="adj" fmla="val 12903"/>
            </a:avLst>
          </a:prstGeom>
          <a:solidFill>
            <a:srgbClr val="FFFFFF"/>
          </a:solidFill>
          <a:ln w="9525">
            <a:solidFill>
              <a:srgbClr val="C7D2CB"/>
            </a:solidFill>
            <a:prstDash val="solid"/>
          </a:ln>
        </p:spPr>
      </p:sp>
      <p:sp>
        <p:nvSpPr>
          <p:cNvPr id="11" name="Text 8"/>
          <p:cNvSpPr txBox="1"/>
          <p:nvPr/>
        </p:nvSpPr>
        <p:spPr>
          <a:xfrm>
            <a:off x="566928" y="2578608"/>
            <a:ext cx="420624" cy="420624"/>
          </a:xfrm>
          <a:prstGeom prst="ellipse">
            <a:avLst/>
          </a:prstGeom>
          <a:solidFill>
            <a:srgbClr val="9B2C1F"/>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9"/>
          <p:cNvSpPr txBox="1"/>
          <p:nvPr/>
        </p:nvSpPr>
        <p:spPr>
          <a:xfrm>
            <a:off x="1143000" y="2523744"/>
            <a:ext cx="4617720" cy="530352"/>
          </a:xfrm>
          <a:prstGeom prst="rect">
            <a:avLst/>
          </a:prstGeom>
          <a:noFill/>
          <a:ln/>
        </p:spPr>
        <p:txBody>
          <a:bodyPr wrap="square" lIns="0" tIns="0" rIns="0" bIns="0" rtlCol="0" anchor="ctr">
            <a:normAutofit/>
          </a:bodyPr>
          <a:lstStyle/>
          <a:p>
            <a:pPr indent="0" marL="0">
              <a:buNone/>
            </a:pPr>
            <a:r>
              <a:rPr lang="en-US" sz="1400" dirty="0">
                <a:solidFill>
                  <a:srgbClr val="16222B"/>
                </a:solidFill>
                <a:latin typeface="Calibri" pitchFamily="34" charset="0"/>
                <a:ea typeface="Calibri" pitchFamily="34" charset="-122"/>
                <a:cs typeface="Calibri" pitchFamily="34" charset="-120"/>
              </a:rPr>
              <a:t>Use another student’s completed work.</a:t>
            </a:r>
            <a:endParaRPr lang="en-US" sz="1400" dirty="0"/>
          </a:p>
        </p:txBody>
      </p:sp>
      <p:sp>
        <p:nvSpPr>
          <p:cNvPr id="13" name="Not permitted 4"/>
          <p:cNvSpPr/>
          <p:nvPr/>
        </p:nvSpPr>
        <p:spPr>
          <a:xfrm>
            <a:off x="457200" y="3163824"/>
            <a:ext cx="5394960" cy="566928"/>
          </a:xfrm>
          <a:prstGeom prst="roundRect">
            <a:avLst>
              <a:gd name="adj" fmla="val 12903"/>
            </a:avLst>
          </a:prstGeom>
          <a:solidFill>
            <a:srgbClr val="FFFFFF"/>
          </a:solidFill>
          <a:ln w="9525">
            <a:solidFill>
              <a:srgbClr val="C7D2CB"/>
            </a:solidFill>
            <a:prstDash val="solid"/>
          </a:ln>
        </p:spPr>
      </p:sp>
      <p:sp>
        <p:nvSpPr>
          <p:cNvPr id="14" name="Text 11"/>
          <p:cNvSpPr txBox="1"/>
          <p:nvPr/>
        </p:nvSpPr>
        <p:spPr>
          <a:xfrm>
            <a:off x="566928" y="3236976"/>
            <a:ext cx="420624" cy="420624"/>
          </a:xfrm>
          <a:prstGeom prst="ellipse">
            <a:avLst/>
          </a:prstGeom>
          <a:solidFill>
            <a:srgbClr val="9B2C1F"/>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2"/>
          <p:cNvSpPr txBox="1"/>
          <p:nvPr/>
        </p:nvSpPr>
        <p:spPr>
          <a:xfrm>
            <a:off x="1143000" y="3182112"/>
            <a:ext cx="4617720" cy="530352"/>
          </a:xfrm>
          <a:prstGeom prst="rect">
            <a:avLst/>
          </a:prstGeom>
          <a:noFill/>
          <a:ln/>
        </p:spPr>
        <p:txBody>
          <a:bodyPr wrap="square" lIns="0" tIns="0" rIns="0" bIns="0" rtlCol="0" anchor="ctr">
            <a:normAutofit/>
          </a:bodyPr>
          <a:lstStyle/>
          <a:p>
            <a:pPr indent="0" marL="0">
              <a:buNone/>
            </a:pPr>
            <a:r>
              <a:rPr lang="en-US" sz="1400" dirty="0">
                <a:solidFill>
                  <a:srgbClr val="16222B"/>
                </a:solidFill>
                <a:latin typeface="Calibri" pitchFamily="34" charset="0"/>
                <a:ea typeface="Calibri" pitchFamily="34" charset="-122"/>
                <a:cs typeface="Calibri" pitchFamily="34" charset="-120"/>
              </a:rPr>
              <a:t>Have another person complete your assessment.</a:t>
            </a:r>
            <a:endParaRPr lang="en-US" sz="1400" dirty="0"/>
          </a:p>
        </p:txBody>
      </p:sp>
      <p:sp>
        <p:nvSpPr>
          <p:cNvPr id="16" name="Not permitted 5"/>
          <p:cNvSpPr/>
          <p:nvPr/>
        </p:nvSpPr>
        <p:spPr>
          <a:xfrm>
            <a:off x="457200" y="3822192"/>
            <a:ext cx="5394960" cy="566928"/>
          </a:xfrm>
          <a:prstGeom prst="roundRect">
            <a:avLst>
              <a:gd name="adj" fmla="val 12903"/>
            </a:avLst>
          </a:prstGeom>
          <a:solidFill>
            <a:srgbClr val="FFFFFF"/>
          </a:solidFill>
          <a:ln w="9525">
            <a:solidFill>
              <a:srgbClr val="C7D2CB"/>
            </a:solidFill>
            <a:prstDash val="solid"/>
          </a:ln>
        </p:spPr>
      </p:sp>
      <p:sp>
        <p:nvSpPr>
          <p:cNvPr id="17" name="Text 14"/>
          <p:cNvSpPr txBox="1"/>
          <p:nvPr/>
        </p:nvSpPr>
        <p:spPr>
          <a:xfrm>
            <a:off x="566928" y="3895344"/>
            <a:ext cx="420624" cy="420624"/>
          </a:xfrm>
          <a:prstGeom prst="ellipse">
            <a:avLst/>
          </a:prstGeom>
          <a:solidFill>
            <a:srgbClr val="9B2C1F"/>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5"/>
          <p:cNvSpPr txBox="1"/>
          <p:nvPr/>
        </p:nvSpPr>
        <p:spPr>
          <a:xfrm>
            <a:off x="1143000" y="3840480"/>
            <a:ext cx="4617720" cy="530352"/>
          </a:xfrm>
          <a:prstGeom prst="rect">
            <a:avLst/>
          </a:prstGeom>
          <a:noFill/>
          <a:ln/>
        </p:spPr>
        <p:txBody>
          <a:bodyPr wrap="square" lIns="0" tIns="0" rIns="0" bIns="0" rtlCol="0" anchor="ctr">
            <a:normAutofit/>
          </a:bodyPr>
          <a:lstStyle/>
          <a:p>
            <a:pPr indent="0" marL="0">
              <a:buNone/>
            </a:pPr>
            <a:r>
              <a:rPr lang="en-US" sz="1400" dirty="0">
                <a:solidFill>
                  <a:srgbClr val="16222B"/>
                </a:solidFill>
                <a:latin typeface="Calibri" pitchFamily="34" charset="0"/>
                <a:ea typeface="Calibri" pitchFamily="34" charset="-122"/>
                <a:cs typeface="Calibri" pitchFamily="34" charset="-120"/>
              </a:rPr>
              <a:t>Post assessment materials to public websites, repositories or study-sharing services.</a:t>
            </a:r>
            <a:endParaRPr lang="en-US" sz="1400" dirty="0"/>
          </a:p>
        </p:txBody>
      </p:sp>
      <p:sp>
        <p:nvSpPr>
          <p:cNvPr id="19" name="Collab card"/>
          <p:cNvSpPr/>
          <p:nvPr/>
        </p:nvSpPr>
        <p:spPr>
          <a:xfrm>
            <a:off x="6126480" y="1188720"/>
            <a:ext cx="2560320" cy="3200400"/>
          </a:xfrm>
          <a:prstGeom prst="roundRect">
            <a:avLst>
              <a:gd name="adj" fmla="val 2857"/>
            </a:avLst>
          </a:prstGeom>
          <a:solidFill>
            <a:srgbClr val="E0EEE8"/>
          </a:solidFill>
          <a:ln w="9525">
            <a:solidFill>
              <a:srgbClr val="C7D2CB"/>
            </a:solidFill>
            <a:prstDash val="solid"/>
          </a:ln>
        </p:spPr>
      </p:sp>
      <p:sp>
        <p:nvSpPr>
          <p:cNvPr id="20" name="Text 17"/>
          <p:cNvSpPr txBox="1"/>
          <p:nvPr/>
        </p:nvSpPr>
        <p:spPr>
          <a:xfrm>
            <a:off x="6309360" y="1325880"/>
            <a:ext cx="2194560" cy="822960"/>
          </a:xfrm>
          <a:prstGeom prst="rect">
            <a:avLst/>
          </a:prstGeom>
          <a:noFill/>
          <a:ln/>
        </p:spPr>
        <p:txBody>
          <a:bodyPr wrap="square" lIns="0" tIns="0" rIns="0" bIns="0" rtlCol="0" anchor="t"/>
          <a:lstStyle/>
          <a:p>
            <a:pPr indent="0" marL="0">
              <a:buNone/>
            </a:pPr>
            <a:r>
              <a:rPr lang="en-US" sz="1300" b="1" dirty="0">
                <a:solidFill>
                  <a:srgbClr val="14574B"/>
                </a:solidFill>
                <a:latin typeface="Calibri" pitchFamily="34" charset="0"/>
                <a:ea typeface="Calibri" pitchFamily="34" charset="-122"/>
                <a:cs typeface="Calibri" pitchFamily="34" charset="-120"/>
              </a:rPr>
              <a:t>The open-source policy does not permit you to</a:t>
            </a:r>
            <a:endParaRPr lang="en-US" sz="1300" dirty="0"/>
          </a:p>
        </p:txBody>
      </p:sp>
      <p:sp>
        <p:nvSpPr>
          <p:cNvPr id="21" name="Text 18"/>
          <p:cNvSpPr txBox="1"/>
          <p:nvPr/>
        </p:nvSpPr>
        <p:spPr>
          <a:xfrm>
            <a:off x="6309360" y="2286000"/>
            <a:ext cx="2194560" cy="1920240"/>
          </a:xfrm>
          <a:prstGeom prst="rect">
            <a:avLst/>
          </a:prstGeom>
          <a:noFill/>
          <a:ln/>
        </p:spPr>
        <p:txBody>
          <a:bodyPr wrap="square" lIns="0" tIns="0" rIns="0" bIns="0" rtlCol="0" anchor="t"/>
          <a:lstStyle/>
          <a:p>
            <a:pPr indent="0" marL="0">
              <a:buNone/>
            </a:pPr>
            <a:r>
              <a:rPr lang="en-US" sz="2000" b="1" dirty="0">
                <a:solidFill>
                  <a:srgbClr val="16222B"/>
                </a:solidFill>
                <a:latin typeface="Cambria" pitchFamily="34" charset="0"/>
                <a:ea typeface="Cambria" pitchFamily="34" charset="-122"/>
                <a:cs typeface="Cambria" pitchFamily="34" charset="-120"/>
              </a:rPr>
              <a:t>Open source does not mean open collaboration.</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4574B"/>
                </a:solidFill>
                <a:latin typeface="Cambria" pitchFamily="34" charset="0"/>
                <a:ea typeface="Cambria" pitchFamily="34" charset="-122"/>
                <a:cs typeface="Cambria" pitchFamily="34" charset="-120"/>
              </a:rPr>
              <a:t>The Professor Test</a:t>
            </a:r>
            <a:endParaRPr lang="en-US" sz="3200" dirty="0"/>
          </a:p>
        </p:txBody>
      </p:sp>
      <p:sp>
        <p:nvSpPr>
          <p:cNvPr id="4" name="Question card"/>
          <p:cNvSpPr/>
          <p:nvPr/>
        </p:nvSpPr>
        <p:spPr>
          <a:xfrm>
            <a:off x="457200" y="1188720"/>
            <a:ext cx="8229600" cy="1097280"/>
          </a:xfrm>
          <a:prstGeom prst="roundRect">
            <a:avLst>
              <a:gd name="adj" fmla="val 6667"/>
            </a:avLst>
          </a:prstGeom>
          <a:solidFill>
            <a:srgbClr val="FFFFFF"/>
          </a:solidFill>
          <a:ln w="9525">
            <a:solidFill>
              <a:srgbClr val="C7D2CB"/>
            </a:solidFill>
            <a:prstDash val="solid"/>
          </a:ln>
        </p:spPr>
      </p:sp>
      <p:sp>
        <p:nvSpPr>
          <p:cNvPr id="5" name="Text 2"/>
          <p:cNvSpPr txBox="1"/>
          <p:nvPr/>
        </p:nvSpPr>
        <p:spPr>
          <a:xfrm>
            <a:off x="731520" y="1261872"/>
            <a:ext cx="7680960" cy="320040"/>
          </a:xfrm>
          <a:prstGeom prst="rect">
            <a:avLst/>
          </a:prstGeom>
          <a:noFill/>
          <a:ln/>
        </p:spPr>
        <p:txBody>
          <a:bodyPr wrap="square" lIns="0" tIns="0" rIns="0" bIns="0" rtlCol="0" anchor="ctr"/>
          <a:lstStyle/>
          <a:p>
            <a:pPr indent="0" marL="0">
              <a:buNone/>
            </a:pPr>
            <a:r>
              <a:rPr lang="en-US" sz="1300" b="1" dirty="0">
                <a:solidFill>
                  <a:srgbClr val="14574B"/>
                </a:solidFill>
                <a:latin typeface="Calibri" pitchFamily="34" charset="0"/>
                <a:ea typeface="Calibri" pitchFamily="34" charset="-122"/>
                <a:cs typeface="Calibri" pitchFamily="34" charset="-120"/>
              </a:rPr>
              <a:t>Imagine I select one part of your assessment and ask:</a:t>
            </a:r>
            <a:endParaRPr lang="en-US" sz="1300" dirty="0"/>
          </a:p>
        </p:txBody>
      </p:sp>
      <p:sp>
        <p:nvSpPr>
          <p:cNvPr id="6" name="Text 3"/>
          <p:cNvSpPr txBox="1"/>
          <p:nvPr/>
        </p:nvSpPr>
        <p:spPr>
          <a:xfrm>
            <a:off x="731520" y="1600200"/>
            <a:ext cx="7680960" cy="594360"/>
          </a:xfrm>
          <a:prstGeom prst="rect">
            <a:avLst/>
          </a:prstGeom>
          <a:noFill/>
          <a:ln/>
        </p:spPr>
        <p:txBody>
          <a:bodyPr wrap="square" lIns="0" tIns="0" rIns="0" bIns="0" rtlCol="0" anchor="ctr"/>
          <a:lstStyle/>
          <a:p>
            <a:pPr indent="0" marL="0">
              <a:buNone/>
            </a:pPr>
            <a:r>
              <a:rPr lang="en-US" sz="2400" b="1" dirty="0">
                <a:solidFill>
                  <a:srgbClr val="16222B"/>
                </a:solidFill>
                <a:latin typeface="Cambria" pitchFamily="34" charset="0"/>
                <a:ea typeface="Cambria" pitchFamily="34" charset="-122"/>
                <a:cs typeface="Cambria" pitchFamily="34" charset="-120"/>
              </a:rPr>
              <a:t>“Walk me through what you did here and explain why.”</a:t>
            </a:r>
            <a:endParaRPr lang="en-US" sz="2400" dirty="0"/>
          </a:p>
        </p:txBody>
      </p:sp>
      <p:sp>
        <p:nvSpPr>
          <p:cNvPr id="7" name="Test 1"/>
          <p:cNvSpPr/>
          <p:nvPr/>
        </p:nvSpPr>
        <p:spPr>
          <a:xfrm>
            <a:off x="457200" y="2514600"/>
            <a:ext cx="4023360" cy="777240"/>
          </a:xfrm>
          <a:prstGeom prst="roundRect">
            <a:avLst>
              <a:gd name="adj" fmla="val 9412"/>
            </a:avLst>
          </a:prstGeom>
          <a:solidFill>
            <a:srgbClr val="FFFFFF"/>
          </a:solidFill>
          <a:ln w="9525">
            <a:solidFill>
              <a:srgbClr val="C7D2CB"/>
            </a:solidFill>
            <a:prstDash val="solid"/>
          </a:ln>
        </p:spPr>
      </p:sp>
      <p:sp>
        <p:nvSpPr>
          <p:cNvPr id="8" name="Text 5"/>
          <p:cNvSpPr txBox="1"/>
          <p:nvPr/>
        </p:nvSpPr>
        <p:spPr>
          <a:xfrm>
            <a:off x="585216" y="2697480"/>
            <a:ext cx="411480" cy="411480"/>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143000" y="2551176"/>
            <a:ext cx="3200400" cy="704088"/>
          </a:xfrm>
          <a:prstGeom prst="rect">
            <a:avLst/>
          </a:prstGeom>
          <a:noFill/>
          <a:ln/>
        </p:spPr>
        <p:txBody>
          <a:bodyPr wrap="square" lIns="0" tIns="0" rIns="0" bIns="0" rtlCol="0" anchor="ctr"/>
          <a:lstStyle/>
          <a:p>
            <a:pPr indent="0" marL="0">
              <a:buNone/>
            </a:pPr>
            <a:r>
              <a:rPr lang="en-US" sz="1500" dirty="0">
                <a:solidFill>
                  <a:srgbClr val="16222B"/>
                </a:solidFill>
                <a:latin typeface="Calibri" pitchFamily="34" charset="0"/>
                <a:ea typeface="Calibri" pitchFamily="34" charset="-122"/>
                <a:cs typeface="Calibri" pitchFamily="34" charset="-120"/>
              </a:rPr>
              <a:t>Could you answer?</a:t>
            </a:r>
            <a:endParaRPr lang="en-US" sz="1500" dirty="0"/>
          </a:p>
        </p:txBody>
      </p:sp>
      <p:sp>
        <p:nvSpPr>
          <p:cNvPr id="10" name="Test 2"/>
          <p:cNvSpPr/>
          <p:nvPr/>
        </p:nvSpPr>
        <p:spPr>
          <a:xfrm>
            <a:off x="4663440" y="2514600"/>
            <a:ext cx="4023360" cy="777240"/>
          </a:xfrm>
          <a:prstGeom prst="roundRect">
            <a:avLst>
              <a:gd name="adj" fmla="val 9412"/>
            </a:avLst>
          </a:prstGeom>
          <a:solidFill>
            <a:srgbClr val="FFFFFF"/>
          </a:solidFill>
          <a:ln w="9525">
            <a:solidFill>
              <a:srgbClr val="C7D2CB"/>
            </a:solidFill>
            <a:prstDash val="solid"/>
          </a:ln>
        </p:spPr>
      </p:sp>
      <p:sp>
        <p:nvSpPr>
          <p:cNvPr id="11" name="Text 8"/>
          <p:cNvSpPr txBox="1"/>
          <p:nvPr/>
        </p:nvSpPr>
        <p:spPr>
          <a:xfrm>
            <a:off x="4791456" y="2697480"/>
            <a:ext cx="411480" cy="411480"/>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5349240" y="2551176"/>
            <a:ext cx="3200400" cy="704088"/>
          </a:xfrm>
          <a:prstGeom prst="rect">
            <a:avLst/>
          </a:prstGeom>
          <a:noFill/>
          <a:ln/>
        </p:spPr>
        <p:txBody>
          <a:bodyPr wrap="square" lIns="0" tIns="0" rIns="0" bIns="0" rtlCol="0" anchor="ctr"/>
          <a:lstStyle/>
          <a:p>
            <a:pPr indent="0" marL="0">
              <a:buNone/>
            </a:pPr>
            <a:r>
              <a:rPr lang="en-US" sz="1500" dirty="0">
                <a:solidFill>
                  <a:srgbClr val="16222B"/>
                </a:solidFill>
                <a:latin typeface="Calibri" pitchFamily="34" charset="0"/>
                <a:ea typeface="Calibri" pitchFamily="34" charset="-122"/>
                <a:cs typeface="Calibri" pitchFamily="34" charset="-120"/>
              </a:rPr>
              <a:t>Could you reproduce an important calculation?</a:t>
            </a:r>
            <a:endParaRPr lang="en-US" sz="1500" dirty="0"/>
          </a:p>
        </p:txBody>
      </p:sp>
      <p:sp>
        <p:nvSpPr>
          <p:cNvPr id="13" name="Test 3"/>
          <p:cNvSpPr/>
          <p:nvPr/>
        </p:nvSpPr>
        <p:spPr>
          <a:xfrm>
            <a:off x="457200" y="3383280"/>
            <a:ext cx="4023360" cy="777240"/>
          </a:xfrm>
          <a:prstGeom prst="roundRect">
            <a:avLst>
              <a:gd name="adj" fmla="val 9412"/>
            </a:avLst>
          </a:prstGeom>
          <a:solidFill>
            <a:srgbClr val="FFFFFF"/>
          </a:solidFill>
          <a:ln w="9525">
            <a:solidFill>
              <a:srgbClr val="C7D2CB"/>
            </a:solidFill>
            <a:prstDash val="solid"/>
          </a:ln>
        </p:spPr>
      </p:sp>
      <p:sp>
        <p:nvSpPr>
          <p:cNvPr id="14" name="Text 11"/>
          <p:cNvSpPr txBox="1"/>
          <p:nvPr/>
        </p:nvSpPr>
        <p:spPr>
          <a:xfrm>
            <a:off x="585216" y="3566160"/>
            <a:ext cx="411480" cy="411480"/>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1143000" y="3419856"/>
            <a:ext cx="3200400" cy="704088"/>
          </a:xfrm>
          <a:prstGeom prst="rect">
            <a:avLst/>
          </a:prstGeom>
          <a:noFill/>
          <a:ln/>
        </p:spPr>
        <p:txBody>
          <a:bodyPr wrap="square" lIns="0" tIns="0" rIns="0" bIns="0" rtlCol="0" anchor="ctr"/>
          <a:lstStyle/>
          <a:p>
            <a:pPr indent="0" marL="0">
              <a:buNone/>
            </a:pPr>
            <a:r>
              <a:rPr lang="en-US" sz="1500" dirty="0">
                <a:solidFill>
                  <a:srgbClr val="16222B"/>
                </a:solidFill>
                <a:latin typeface="Calibri" pitchFamily="34" charset="0"/>
                <a:ea typeface="Calibri" pitchFamily="34" charset="-122"/>
                <a:cs typeface="Calibri" pitchFamily="34" charset="-120"/>
              </a:rPr>
              <a:t>Could you explain what the result means?</a:t>
            </a:r>
            <a:endParaRPr lang="en-US" sz="1500" dirty="0"/>
          </a:p>
        </p:txBody>
      </p:sp>
      <p:sp>
        <p:nvSpPr>
          <p:cNvPr id="16" name="Test 4"/>
          <p:cNvSpPr/>
          <p:nvPr/>
        </p:nvSpPr>
        <p:spPr>
          <a:xfrm>
            <a:off x="4663440" y="3383280"/>
            <a:ext cx="4023360" cy="777240"/>
          </a:xfrm>
          <a:prstGeom prst="roundRect">
            <a:avLst>
              <a:gd name="adj" fmla="val 9412"/>
            </a:avLst>
          </a:prstGeom>
          <a:solidFill>
            <a:srgbClr val="FFFFFF"/>
          </a:solidFill>
          <a:ln w="9525">
            <a:solidFill>
              <a:srgbClr val="C7D2CB"/>
            </a:solidFill>
            <a:prstDash val="solid"/>
          </a:ln>
        </p:spPr>
      </p:sp>
      <p:sp>
        <p:nvSpPr>
          <p:cNvPr id="17" name="Text 14"/>
          <p:cNvSpPr txBox="1"/>
          <p:nvPr/>
        </p:nvSpPr>
        <p:spPr>
          <a:xfrm>
            <a:off x="4791456" y="3566160"/>
            <a:ext cx="411480" cy="411480"/>
          </a:xfrm>
          <a:prstGeom prst="ellipse">
            <a:avLst/>
          </a:prstGeom>
          <a:solidFill>
            <a:srgbClr val="14574B"/>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5"/>
          <p:cNvSpPr txBox="1"/>
          <p:nvPr/>
        </p:nvSpPr>
        <p:spPr>
          <a:xfrm>
            <a:off x="5349240" y="3419856"/>
            <a:ext cx="3200400" cy="704088"/>
          </a:xfrm>
          <a:prstGeom prst="rect">
            <a:avLst/>
          </a:prstGeom>
          <a:noFill/>
          <a:ln/>
        </p:spPr>
        <p:txBody>
          <a:bodyPr wrap="square" lIns="0" tIns="0" rIns="0" bIns="0" rtlCol="0" anchor="ctr"/>
          <a:lstStyle/>
          <a:p>
            <a:pPr indent="0" marL="0">
              <a:buNone/>
            </a:pPr>
            <a:r>
              <a:rPr lang="en-US" sz="1500" dirty="0">
                <a:solidFill>
                  <a:srgbClr val="16222B"/>
                </a:solidFill>
                <a:latin typeface="Calibri" pitchFamily="34" charset="0"/>
                <a:ea typeface="Calibri" pitchFamily="34" charset="-122"/>
                <a:cs typeface="Calibri" pitchFamily="34" charset="-120"/>
              </a:rPr>
              <a:t>Could you explain what would happen if one of the assumptions changed?</a:t>
            </a:r>
            <a:endParaRPr lang="en-US" sz="1500" dirty="0"/>
          </a:p>
        </p:txBody>
      </p:sp>
      <p:sp>
        <p:nvSpPr>
          <p:cNvPr id="19" name="Text 16"/>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400" i="1" dirty="0">
                <a:solidFill>
                  <a:srgbClr val="4D5D68"/>
                </a:solidFill>
                <a:latin typeface="Calibri" pitchFamily="34" charset="0"/>
                <a:ea typeface="Calibri" pitchFamily="34" charset="-122"/>
                <a:cs typeface="Calibri" pitchFamily="34" charset="-120"/>
              </a:rPr>
              <a:t>If not, use the remaining time to turn the answer you found into something you actually understand.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5D6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Remember</a:t>
            </a:r>
            <a:endParaRPr lang="en-US" sz="3200" dirty="0"/>
          </a:p>
        </p:txBody>
      </p:sp>
      <p:sp>
        <p:nvSpPr>
          <p:cNvPr id="4" name="Text 1"/>
          <p:cNvSpPr txBox="1"/>
          <p:nvPr/>
        </p:nvSpPr>
        <p:spPr>
          <a:xfrm>
            <a:off x="457200" y="1097280"/>
            <a:ext cx="4572000" cy="320040"/>
          </a:xfrm>
          <a:prstGeom prst="rect">
            <a:avLst/>
          </a:prstGeom>
          <a:noFill/>
          <a:ln/>
        </p:spPr>
        <p:txBody>
          <a:bodyPr wrap="square" lIns="0" tIns="0" rIns="0" bIns="0" rtlCol="0" anchor="ctr"/>
          <a:lstStyle/>
          <a:p>
            <a:pPr indent="0" marL="0">
              <a:buNone/>
            </a:pPr>
            <a:r>
              <a:rPr lang="en-US" sz="1400" b="1" dirty="0">
                <a:solidFill>
                  <a:srgbClr val="CFE5DD"/>
                </a:solidFill>
                <a:latin typeface="Calibri" pitchFamily="34" charset="0"/>
                <a:ea typeface="Calibri" pitchFamily="34" charset="-122"/>
                <a:cs typeface="Calibri" pitchFamily="34" charset="-120"/>
              </a:rPr>
              <a:t>The goal is to show you can</a:t>
            </a:r>
            <a:endParaRPr lang="en-US" sz="1400" dirty="0"/>
          </a:p>
        </p:txBody>
      </p:sp>
      <p:sp>
        <p:nvSpPr>
          <p:cNvPr id="5" name="Skill 1"/>
          <p:cNvSpPr/>
          <p:nvPr/>
        </p:nvSpPr>
        <p:spPr>
          <a:xfrm>
            <a:off x="457200" y="1463040"/>
            <a:ext cx="4937760" cy="658368"/>
          </a:xfrm>
          <a:prstGeom prst="roundRect">
            <a:avLst>
              <a:gd name="adj" fmla="val 11111"/>
            </a:avLst>
          </a:prstGeom>
          <a:solidFill>
            <a:srgbClr val="1B6A5C"/>
          </a:solidFill>
          <a:ln w="6350">
            <a:solidFill>
              <a:srgbClr val="1B6A5C"/>
            </a:solidFill>
            <a:prstDash val="solid"/>
          </a:ln>
        </p:spPr>
      </p:sp>
      <p:sp>
        <p:nvSpPr>
          <p:cNvPr id="6" name="Text 3"/>
          <p:cNvSpPr txBox="1"/>
          <p:nvPr/>
        </p:nvSpPr>
        <p:spPr>
          <a:xfrm>
            <a:off x="594360" y="1563624"/>
            <a:ext cx="457200" cy="457200"/>
          </a:xfrm>
          <a:prstGeom prst="ellipse">
            <a:avLst/>
          </a:prstGeom>
          <a:solidFill>
            <a:srgbClr val="FFFFFF"/>
          </a:solidFill>
          <a:ln/>
        </p:spPr>
        <p:txBody>
          <a:bodyPr wrap="square" lIns="0" tIns="0" rIns="0" bIns="0" rtlCol="0" anchor="ctr"/>
          <a:lstStyle/>
          <a:p>
            <a:pPr algn="ctr" indent="0" marL="0">
              <a:buNone/>
            </a:pPr>
            <a:r>
              <a:rPr lang="en-US" sz="1600" b="1" dirty="0">
                <a:solidFill>
                  <a:srgbClr val="14574B"/>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234440" y="1490472"/>
            <a:ext cx="4023360" cy="60350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Evaluate information</a:t>
            </a:r>
            <a:endParaRPr lang="en-US" sz="1600" dirty="0"/>
          </a:p>
        </p:txBody>
      </p:sp>
      <p:sp>
        <p:nvSpPr>
          <p:cNvPr id="8" name="Skill 2"/>
          <p:cNvSpPr/>
          <p:nvPr/>
        </p:nvSpPr>
        <p:spPr>
          <a:xfrm>
            <a:off x="457200" y="2212848"/>
            <a:ext cx="4937760" cy="658368"/>
          </a:xfrm>
          <a:prstGeom prst="roundRect">
            <a:avLst>
              <a:gd name="adj" fmla="val 11111"/>
            </a:avLst>
          </a:prstGeom>
          <a:solidFill>
            <a:srgbClr val="1B6A5C"/>
          </a:solidFill>
          <a:ln w="6350">
            <a:solidFill>
              <a:srgbClr val="1B6A5C"/>
            </a:solidFill>
            <a:prstDash val="solid"/>
          </a:ln>
        </p:spPr>
      </p:sp>
      <p:sp>
        <p:nvSpPr>
          <p:cNvPr id="9" name="Text 6"/>
          <p:cNvSpPr txBox="1"/>
          <p:nvPr/>
        </p:nvSpPr>
        <p:spPr>
          <a:xfrm>
            <a:off x="594360" y="2313432"/>
            <a:ext cx="457200" cy="457200"/>
          </a:xfrm>
          <a:prstGeom prst="ellipse">
            <a:avLst/>
          </a:prstGeom>
          <a:solidFill>
            <a:srgbClr val="FFFFFF"/>
          </a:solidFill>
          <a:ln/>
        </p:spPr>
        <p:txBody>
          <a:bodyPr wrap="square" lIns="0" tIns="0" rIns="0" bIns="0" rtlCol="0" anchor="ctr"/>
          <a:lstStyle/>
          <a:p>
            <a:pPr algn="ctr" indent="0" marL="0">
              <a:buNone/>
            </a:pPr>
            <a:r>
              <a:rPr lang="en-US" sz="1600" b="1" dirty="0">
                <a:solidFill>
                  <a:srgbClr val="14574B"/>
                </a:solidFill>
                <a:latin typeface="Cambria" pitchFamily="34" charset="0"/>
                <a:ea typeface="Cambria" pitchFamily="34" charset="-122"/>
                <a:cs typeface="Cambria" pitchFamily="34" charset="-120"/>
              </a:rPr>
              <a:t>2</a:t>
            </a:r>
            <a:endParaRPr lang="en-US" sz="1600" dirty="0"/>
          </a:p>
        </p:txBody>
      </p:sp>
      <p:sp>
        <p:nvSpPr>
          <p:cNvPr id="10" name="Text 7"/>
          <p:cNvSpPr txBox="1"/>
          <p:nvPr/>
        </p:nvSpPr>
        <p:spPr>
          <a:xfrm>
            <a:off x="1234440" y="2240280"/>
            <a:ext cx="4023360" cy="60350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Apply accounting concepts</a:t>
            </a:r>
            <a:endParaRPr lang="en-US" sz="1600" dirty="0"/>
          </a:p>
        </p:txBody>
      </p:sp>
      <p:sp>
        <p:nvSpPr>
          <p:cNvPr id="11" name="Skill 3"/>
          <p:cNvSpPr/>
          <p:nvPr/>
        </p:nvSpPr>
        <p:spPr>
          <a:xfrm>
            <a:off x="457200" y="2962656"/>
            <a:ext cx="4937760" cy="658368"/>
          </a:xfrm>
          <a:prstGeom prst="roundRect">
            <a:avLst>
              <a:gd name="adj" fmla="val 11111"/>
            </a:avLst>
          </a:prstGeom>
          <a:solidFill>
            <a:srgbClr val="1B6A5C"/>
          </a:solidFill>
          <a:ln w="6350">
            <a:solidFill>
              <a:srgbClr val="1B6A5C"/>
            </a:solidFill>
            <a:prstDash val="solid"/>
          </a:ln>
        </p:spPr>
      </p:sp>
      <p:sp>
        <p:nvSpPr>
          <p:cNvPr id="12" name="Text 9"/>
          <p:cNvSpPr txBox="1"/>
          <p:nvPr/>
        </p:nvSpPr>
        <p:spPr>
          <a:xfrm>
            <a:off x="594360" y="3063240"/>
            <a:ext cx="457200" cy="457200"/>
          </a:xfrm>
          <a:prstGeom prst="ellipse">
            <a:avLst/>
          </a:prstGeom>
          <a:solidFill>
            <a:srgbClr val="FFFFFF"/>
          </a:solidFill>
          <a:ln/>
        </p:spPr>
        <p:txBody>
          <a:bodyPr wrap="square" lIns="0" tIns="0" rIns="0" bIns="0" rtlCol="0" anchor="ctr"/>
          <a:lstStyle/>
          <a:p>
            <a:pPr algn="ctr" indent="0" marL="0">
              <a:buNone/>
            </a:pPr>
            <a:r>
              <a:rPr lang="en-US" sz="1600" b="1" dirty="0">
                <a:solidFill>
                  <a:srgbClr val="14574B"/>
                </a:solidFill>
                <a:latin typeface="Cambria" pitchFamily="34" charset="0"/>
                <a:ea typeface="Cambria" pitchFamily="34" charset="-122"/>
                <a:cs typeface="Cambria" pitchFamily="34" charset="-120"/>
              </a:rPr>
              <a:t>3</a:t>
            </a:r>
            <a:endParaRPr lang="en-US" sz="1600" dirty="0"/>
          </a:p>
        </p:txBody>
      </p:sp>
      <p:sp>
        <p:nvSpPr>
          <p:cNvPr id="13" name="Text 10"/>
          <p:cNvSpPr txBox="1"/>
          <p:nvPr/>
        </p:nvSpPr>
        <p:spPr>
          <a:xfrm>
            <a:off x="1234440" y="2990088"/>
            <a:ext cx="4023360" cy="60350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Exercise professional judgment</a:t>
            </a:r>
            <a:endParaRPr lang="en-US" sz="1600" dirty="0"/>
          </a:p>
        </p:txBody>
      </p:sp>
      <p:sp>
        <p:nvSpPr>
          <p:cNvPr id="14" name="Skill 4"/>
          <p:cNvSpPr/>
          <p:nvPr/>
        </p:nvSpPr>
        <p:spPr>
          <a:xfrm>
            <a:off x="457200" y="3712464"/>
            <a:ext cx="4937760" cy="658368"/>
          </a:xfrm>
          <a:prstGeom prst="roundRect">
            <a:avLst>
              <a:gd name="adj" fmla="val 11111"/>
            </a:avLst>
          </a:prstGeom>
          <a:solidFill>
            <a:srgbClr val="1B6A5C"/>
          </a:solidFill>
          <a:ln w="6350">
            <a:solidFill>
              <a:srgbClr val="1B6A5C"/>
            </a:solidFill>
            <a:prstDash val="solid"/>
          </a:ln>
        </p:spPr>
      </p:sp>
      <p:sp>
        <p:nvSpPr>
          <p:cNvPr id="15" name="Text 12"/>
          <p:cNvSpPr txBox="1"/>
          <p:nvPr/>
        </p:nvSpPr>
        <p:spPr>
          <a:xfrm>
            <a:off x="594360" y="3813048"/>
            <a:ext cx="457200" cy="457200"/>
          </a:xfrm>
          <a:prstGeom prst="ellipse">
            <a:avLst/>
          </a:prstGeom>
          <a:solidFill>
            <a:srgbClr val="FFFFFF"/>
          </a:solidFill>
          <a:ln/>
        </p:spPr>
        <p:txBody>
          <a:bodyPr wrap="square" lIns="0" tIns="0" rIns="0" bIns="0" rtlCol="0" anchor="ctr"/>
          <a:lstStyle/>
          <a:p>
            <a:pPr algn="ctr" indent="0" marL="0">
              <a:buNone/>
            </a:pPr>
            <a:r>
              <a:rPr lang="en-US" sz="1600" b="1" dirty="0">
                <a:solidFill>
                  <a:srgbClr val="14574B"/>
                </a:solidFill>
                <a:latin typeface="Cambria" pitchFamily="34" charset="0"/>
                <a:ea typeface="Cambria" pitchFamily="34" charset="-122"/>
                <a:cs typeface="Cambria" pitchFamily="34" charset="-120"/>
              </a:rPr>
              <a:t>4</a:t>
            </a:r>
            <a:endParaRPr lang="en-US" sz="1600" dirty="0"/>
          </a:p>
        </p:txBody>
      </p:sp>
      <p:sp>
        <p:nvSpPr>
          <p:cNvPr id="16" name="Text 13"/>
          <p:cNvSpPr txBox="1"/>
          <p:nvPr/>
        </p:nvSpPr>
        <p:spPr>
          <a:xfrm>
            <a:off x="1234440" y="3739896"/>
            <a:ext cx="4023360" cy="60350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Explain your conclusions</a:t>
            </a:r>
            <a:endParaRPr lang="en-US" sz="1600" dirty="0"/>
          </a:p>
        </p:txBody>
      </p:sp>
      <p:sp>
        <p:nvSpPr>
          <p:cNvPr id="17" name="Summary card"/>
          <p:cNvSpPr/>
          <p:nvPr/>
        </p:nvSpPr>
        <p:spPr>
          <a:xfrm>
            <a:off x="5669280" y="1097280"/>
            <a:ext cx="3017520" cy="3200400"/>
          </a:xfrm>
          <a:prstGeom prst="roundRect">
            <a:avLst>
              <a:gd name="adj" fmla="val 2424"/>
            </a:avLst>
          </a:prstGeom>
          <a:solidFill>
            <a:srgbClr val="FFFFFF"/>
          </a:solidFill>
          <a:ln w="6350">
            <a:solidFill>
              <a:srgbClr val="FFFFFF"/>
            </a:solidFill>
            <a:prstDash val="solid"/>
          </a:ln>
        </p:spPr>
      </p:sp>
      <p:sp>
        <p:nvSpPr>
          <p:cNvPr id="18" name="Text 15"/>
          <p:cNvSpPr txBox="1"/>
          <p:nvPr/>
        </p:nvSpPr>
        <p:spPr>
          <a:xfrm>
            <a:off x="5852160" y="1234440"/>
            <a:ext cx="2651760" cy="365760"/>
          </a:xfrm>
          <a:prstGeom prst="rect">
            <a:avLst/>
          </a:prstGeom>
          <a:noFill/>
          <a:ln/>
        </p:spPr>
        <p:txBody>
          <a:bodyPr wrap="square" lIns="0" tIns="0" rIns="0" bIns="0" rtlCol="0" anchor="ctr"/>
          <a:lstStyle/>
          <a:p>
            <a:pPr indent="0" marL="0">
              <a:buNone/>
            </a:pPr>
            <a:r>
              <a:rPr lang="en-US" sz="1800" b="1" dirty="0">
                <a:solidFill>
                  <a:srgbClr val="14574B"/>
                </a:solidFill>
                <a:latin typeface="Cambria" pitchFamily="34" charset="0"/>
                <a:ea typeface="Cambria" pitchFamily="34" charset="-122"/>
                <a:cs typeface="Cambria" pitchFamily="34" charset="-120"/>
              </a:rPr>
              <a:t>Three lines to remember</a:t>
            </a:r>
            <a:endParaRPr lang="en-US" sz="1800" dirty="0"/>
          </a:p>
        </p:txBody>
      </p:sp>
      <p:sp>
        <p:nvSpPr>
          <p:cNvPr id="19" name="Text 16"/>
          <p:cNvSpPr txBox="1"/>
          <p:nvPr/>
        </p:nvSpPr>
        <p:spPr>
          <a:xfrm>
            <a:off x="5852160" y="1737360"/>
            <a:ext cx="2651760" cy="1554480"/>
          </a:xfrm>
          <a:prstGeom prst="rect">
            <a:avLst/>
          </a:prstGeom>
          <a:noFill/>
          <a:ln/>
        </p:spPr>
        <p:txBody>
          <a:bodyPr wrap="square" lIns="0" tIns="0" rIns="0" bIns="0" rtlCol="0" anchor="t"/>
          <a:lstStyle/>
          <a:p>
            <a:pPr indent="0" marL="0">
              <a:spcAft>
                <a:spcPts val="600"/>
              </a:spcAft>
              <a:buNone/>
            </a:pPr>
            <a:r>
              <a:rPr lang="en-US" sz="1600" b="1" dirty="0">
                <a:solidFill>
                  <a:srgbClr val="16222B"/>
                </a:solidFill>
                <a:latin typeface="Cambria" pitchFamily="34" charset="0"/>
                <a:ea typeface="Cambria" pitchFamily="34" charset="-122"/>
                <a:cs typeface="Cambria" pitchFamily="34" charset="-120"/>
              </a:rPr>
              <a:t>Resources are open.</a:t>
            </a:r>
            <a:endParaRPr lang="en-US" sz="1600" dirty="0"/>
          </a:p>
          <a:p>
            <a:pPr indent="0" marL="0">
              <a:spcAft>
                <a:spcPts val="600"/>
              </a:spcAft>
              <a:buNone/>
            </a:pPr>
            <a:r>
              <a:rPr lang="en-US" sz="1600" b="1" dirty="0">
                <a:solidFill>
                  <a:srgbClr val="16222B"/>
                </a:solidFill>
                <a:latin typeface="Cambria" pitchFamily="34" charset="0"/>
                <a:ea typeface="Cambria" pitchFamily="34" charset="-122"/>
                <a:cs typeface="Cambria" pitchFamily="34" charset="-120"/>
              </a:rPr>
              <a:t>Collaboration is restricted.</a:t>
            </a:r>
            <a:endParaRPr lang="en-US" sz="1600" dirty="0"/>
          </a:p>
          <a:p>
            <a:pPr indent="0" marL="0">
              <a:spcAft>
                <a:spcPts val="600"/>
              </a:spcAft>
              <a:buNone/>
            </a:pPr>
            <a:r>
              <a:rPr lang="en-US" sz="1600" b="1" dirty="0">
                <a:solidFill>
                  <a:srgbClr val="16222B"/>
                </a:solidFill>
                <a:latin typeface="Cambria" pitchFamily="34" charset="0"/>
                <a:ea typeface="Cambria" pitchFamily="34" charset="-122"/>
                <a:cs typeface="Cambria" pitchFamily="34" charset="-120"/>
              </a:rPr>
              <a:t>Understanding is required.</a:t>
            </a:r>
            <a:endParaRPr lang="en-US" sz="1600" dirty="0"/>
          </a:p>
        </p:txBody>
      </p:sp>
      <p:sp>
        <p:nvSpPr>
          <p:cNvPr id="20" name="Text 17"/>
          <p:cNvSpPr txBox="1"/>
          <p:nvPr/>
        </p:nvSpPr>
        <p:spPr>
          <a:xfrm>
            <a:off x="5852160" y="3520440"/>
            <a:ext cx="2651760" cy="731520"/>
          </a:xfrm>
          <a:prstGeom prst="rect">
            <a:avLst/>
          </a:prstGeom>
          <a:noFill/>
          <a:ln/>
        </p:spPr>
        <p:txBody>
          <a:bodyPr wrap="square" lIns="0" tIns="0" rIns="0" bIns="0" rtlCol="0" anchor="t"/>
          <a:lstStyle/>
          <a:p>
            <a:pPr indent="0" marL="0">
              <a:buNone/>
            </a:pPr>
            <a:r>
              <a:rPr lang="en-US" sz="1200" i="1" dirty="0">
                <a:solidFill>
                  <a:srgbClr val="4D5D68"/>
                </a:solidFill>
                <a:latin typeface="Calibri" pitchFamily="34" charset="0"/>
                <a:ea typeface="Calibri" pitchFamily="34" charset="-122"/>
                <a:cs typeface="Calibri" pitchFamily="34" charset="-120"/>
              </a:rPr>
              <a:t>Finding answers is easier than ever. Evaluating them is the skill that matters.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5D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ummit workpaper">
  <a:themeElements>
    <a:clrScheme name="Summit workpaper">
      <a:dk1>
        <a:srgbClr val="16222B"/>
      </a:dk1>
      <a:lt1>
        <a:srgbClr val="FFFFFF"/>
      </a:lt1>
      <a:dk2>
        <a:srgbClr val="14574B"/>
      </a:dk2>
      <a:lt2>
        <a:srgbClr val="F5F8F5"/>
      </a:lt2>
      <a:accent1>
        <a:srgbClr val="14574B"/>
      </a:accent1>
      <a:accent2>
        <a:srgbClr val="274C8C"/>
      </a:accent2>
      <a:accent3>
        <a:srgbClr val="0F6A37"/>
      </a:accent3>
      <a:accent4>
        <a:srgbClr val="9B2C1F"/>
      </a:accent4>
      <a:accent5>
        <a:srgbClr val="4D5D68"/>
      </a:accent5>
      <a:accent6>
        <a:srgbClr val="E0EEE8"/>
      </a:accent6>
      <a:hlink>
        <a:srgbClr val="1A47B8"/>
      </a:hlink>
      <a:folHlink>
        <a:srgbClr val="4D5D68"/>
      </a:folHlink>
    </a:clrScheme>
    <a:fontScheme name="Summit workpa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Western Carolina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AI on MBA 623 Assessments</dc:title>
  <dc:subject>PptxGenJS Presentation</dc:subject>
  <dc:creator>Marco Lam</dc:creator>
  <cp:lastModifiedBy>Marco Lam</cp:lastModifiedBy>
  <cp:revision>1</cp:revision>
  <dcterms:created xsi:type="dcterms:W3CDTF">2026-10-18T20:27:31Z</dcterms:created>
  <dcterms:modified xsi:type="dcterms:W3CDTF">2026-10-18T20:27:31Z</dcterms:modified>
</cp:coreProperties>
</file>